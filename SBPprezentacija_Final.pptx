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7" r:id="rId8"/>
    <p:sldId id="261" r:id="rId9"/>
    <p:sldId id="262" r:id="rId10"/>
    <p:sldId id="268" r:id="rId11"/>
    <p:sldId id="269" r:id="rId12"/>
    <p:sldId id="270" r:id="rId13"/>
    <p:sldId id="271" r:id="rId14"/>
    <p:sldId id="272" r:id="rId15"/>
    <p:sldId id="273" r:id="rId16"/>
    <p:sldId id="274" r:id="rId17"/>
    <p:sldId id="275" r:id="rId18"/>
    <p:sldId id="276" r:id="rId19"/>
    <p:sldId id="304" r:id="rId20"/>
    <p:sldId id="300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64" r:id="rId39"/>
    <p:sldId id="299" r:id="rId40"/>
    <p:sldId id="295" r:id="rId41"/>
    <p:sldId id="298" r:id="rId42"/>
    <p:sldId id="296" r:id="rId43"/>
    <p:sldId id="297" r:id="rId44"/>
    <p:sldId id="301" r:id="rId45"/>
    <p:sldId id="302" r:id="rId46"/>
    <p:sldId id="303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473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62819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8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29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40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8032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324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827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879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8705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096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28160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07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6915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03129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79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6726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C8504-B2A0-46AD-B6EC-CF994DB08F19}" type="datetimeFigureOut">
              <a:rPr lang="en-US" smtClean="0"/>
              <a:t>08-Sep-24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BCBD3D-0707-4566-A52F-D927EE65F4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0987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  <p:sldLayoutId id="2147483730" r:id="rId16"/>
    <p:sldLayoutId id="214748373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kaggle.com/datasets/justinpakzad/vestiaire-fashion-datas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-609600" y="2803376"/>
            <a:ext cx="9630626" cy="1373070"/>
          </a:xfrm>
        </p:spPr>
        <p:txBody>
          <a:bodyPr/>
          <a:lstStyle/>
          <a:p>
            <a:r>
              <a:rPr lang="en-US" sz="4800" dirty="0"/>
              <a:t>MongoDB </a:t>
            </a:r>
            <a:r>
              <a:rPr lang="en-US" sz="4800" dirty="0" err="1"/>
              <a:t>projekat</a:t>
            </a:r>
            <a:r>
              <a:rPr lang="en-US" sz="4800" dirty="0"/>
              <a:t>: Online shopping </a:t>
            </a:r>
            <a:r>
              <a:rPr lang="en-US" sz="4800" dirty="0" err="1"/>
              <a:t>Vestiaire</a:t>
            </a:r>
            <a:r>
              <a:rPr lang="en-US" sz="4800" dirty="0"/>
              <a:t> Collective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6892" y="4318309"/>
            <a:ext cx="8144134" cy="1117687"/>
          </a:xfrm>
        </p:spPr>
        <p:txBody>
          <a:bodyPr/>
          <a:lstStyle/>
          <a:p>
            <a:r>
              <a:rPr lang="en-US" dirty="0" err="1"/>
              <a:t>Vestiaire</a:t>
            </a:r>
            <a:r>
              <a:rPr lang="en-US" dirty="0"/>
              <a:t> Collective Dataset</a:t>
            </a:r>
          </a:p>
        </p:txBody>
      </p:sp>
      <p:pic>
        <p:nvPicPr>
          <p:cNvPr id="1030" name="Picture 6" descr="Vestiaire | EU-Startup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4346" y="2897916"/>
            <a:ext cx="1064331" cy="1064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8847908" y="2968416"/>
            <a:ext cx="334409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Tamara </a:t>
            </a:r>
            <a:r>
              <a:rPr lang="en-US" dirty="0" err="1"/>
              <a:t>Ranisovi</a:t>
            </a:r>
            <a:r>
              <a:rPr lang="sr-Latn-RS" dirty="0"/>
              <a:t>ć </a:t>
            </a:r>
          </a:p>
          <a:p>
            <a:pPr algn="r"/>
            <a:r>
              <a:rPr lang="sr-Latn-RS" dirty="0"/>
              <a:t>Miloš Todorović</a:t>
            </a:r>
          </a:p>
          <a:p>
            <a:pPr algn="r"/>
            <a:r>
              <a:rPr lang="sr-Latn-RS" dirty="0"/>
              <a:t>Tijana Varađanin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1258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Tema</a:t>
            </a:r>
            <a:r>
              <a:rPr lang="en-US" dirty="0"/>
              <a:t>: </a:t>
            </a:r>
            <a:r>
              <a:rPr lang="en-US" dirty="0" err="1"/>
              <a:t>Analiza</a:t>
            </a:r>
            <a:r>
              <a:rPr lang="en-US" dirty="0"/>
              <a:t> </a:t>
            </a:r>
            <a:r>
              <a:rPr lang="en-US" dirty="0" err="1"/>
              <a:t>podataka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Vestiaire</a:t>
            </a:r>
            <a:r>
              <a:rPr lang="en-US" dirty="0"/>
              <a:t> Collective </a:t>
            </a:r>
            <a:r>
              <a:rPr lang="en-US" dirty="0" err="1"/>
              <a:t>sajta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</a:t>
            </a:r>
            <a:r>
              <a:rPr lang="sr-Latn-RS" dirty="0"/>
              <a:t>orišćeni skup podataka: </a:t>
            </a:r>
            <a:r>
              <a:rPr lang="en-US" dirty="0">
                <a:hlinkClick r:id="rId2"/>
              </a:rPr>
              <a:t>https://www.kaggle.com/datasets/justinpakzad/vestiaire-fashion-dataset</a:t>
            </a:r>
            <a:endParaRPr lang="sr-Latn-RS" dirty="0"/>
          </a:p>
          <a:p>
            <a:r>
              <a:rPr lang="sr-Latn-RS" dirty="0"/>
              <a:t>Broj zapisa: 900514 redova i 36 kolona, 490MB</a:t>
            </a:r>
          </a:p>
          <a:p>
            <a:r>
              <a:rPr lang="en-US" dirty="0" err="1"/>
              <a:t>Vestiaire</a:t>
            </a:r>
            <a:r>
              <a:rPr lang="en-US" dirty="0"/>
              <a:t> Collective je online </a:t>
            </a:r>
            <a:r>
              <a:rPr lang="en-US" dirty="0" err="1"/>
              <a:t>prodavnica</a:t>
            </a:r>
            <a:r>
              <a:rPr lang="en-US" dirty="0"/>
              <a:t> </a:t>
            </a:r>
            <a:r>
              <a:rPr lang="en-US" dirty="0" err="1"/>
              <a:t>brendiranih</a:t>
            </a:r>
            <a:r>
              <a:rPr lang="en-US" dirty="0"/>
              <a:t> second hand </a:t>
            </a:r>
            <a:r>
              <a:rPr lang="en-US" dirty="0" err="1"/>
              <a:t>modnih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. </a:t>
            </a:r>
            <a:r>
              <a:rPr lang="sr-Latn-RS" dirty="0"/>
              <a:t>Podaci prikazuju proizvode i njihove karakteristike, kao i detalje o prodavcima i njihovim zaradama, skladištima, dodatnim naknadama pri kupovini i drugim informacijama bitnim za tok prodaje.</a:t>
            </a:r>
            <a:endParaRPr lang="en-US" dirty="0"/>
          </a:p>
        </p:txBody>
      </p:sp>
      <p:pic>
        <p:nvPicPr>
          <p:cNvPr id="4" name="Picture 2" descr="Vestiaire Collective - YouTub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766" y="821257"/>
            <a:ext cx="944880" cy="944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8038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 postojećih kolona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p</a:t>
            </a:r>
            <a:r>
              <a:rPr lang="sr-Latn-RS" dirty="0"/>
              <a:t>roduct</a:t>
            </a:r>
            <a:r>
              <a:rPr lang="en-US" dirty="0"/>
              <a:t>_id: </a:t>
            </a:r>
            <a:r>
              <a:rPr lang="en-US" dirty="0" err="1"/>
              <a:t>identifikaciona</a:t>
            </a:r>
            <a:r>
              <a:rPr lang="en-US" dirty="0"/>
              <a:t> </a:t>
            </a:r>
            <a:r>
              <a:rPr lang="en-US" dirty="0" err="1"/>
              <a:t>oznaka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 err="1"/>
              <a:t>product_type</a:t>
            </a:r>
            <a:r>
              <a:rPr lang="en-US" dirty="0"/>
              <a:t>: tip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 err="1"/>
              <a:t>product_name</a:t>
            </a:r>
            <a:r>
              <a:rPr lang="en-US" dirty="0"/>
              <a:t>: </a:t>
            </a:r>
            <a:r>
              <a:rPr lang="en-US" dirty="0" err="1"/>
              <a:t>naziv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 err="1"/>
              <a:t>product_description</a:t>
            </a:r>
            <a:r>
              <a:rPr lang="en-US" dirty="0"/>
              <a:t>: </a:t>
            </a:r>
            <a:r>
              <a:rPr lang="en-US" dirty="0" err="1"/>
              <a:t>opis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 err="1"/>
              <a:t>product_keywords</a:t>
            </a:r>
            <a:r>
              <a:rPr lang="en-US" dirty="0"/>
              <a:t>: </a:t>
            </a:r>
            <a:r>
              <a:rPr lang="en-US" dirty="0" err="1"/>
              <a:t>klju</a:t>
            </a:r>
            <a:r>
              <a:rPr lang="sr-Latn-RS" dirty="0"/>
              <a:t>čne reči iz opisa proizvoda</a:t>
            </a:r>
          </a:p>
          <a:p>
            <a:r>
              <a:rPr lang="en-US" dirty="0" err="1"/>
              <a:t>product_gender_target</a:t>
            </a:r>
            <a:r>
              <a:rPr lang="en-US" dirty="0"/>
              <a:t> (men, women): pol </a:t>
            </a:r>
            <a:r>
              <a:rPr lang="en-US" dirty="0" err="1"/>
              <a:t>kojem</a:t>
            </a:r>
            <a:r>
              <a:rPr lang="en-US" dirty="0"/>
              <a:t> je </a:t>
            </a:r>
            <a:r>
              <a:rPr lang="en-US" dirty="0" err="1"/>
              <a:t>proizvod</a:t>
            </a:r>
            <a:r>
              <a:rPr lang="en-US" dirty="0"/>
              <a:t> </a:t>
            </a:r>
            <a:r>
              <a:rPr lang="en-US" dirty="0" err="1"/>
              <a:t>namenjen</a:t>
            </a:r>
            <a:endParaRPr lang="en-US" dirty="0"/>
          </a:p>
          <a:p>
            <a:r>
              <a:rPr lang="en-US" dirty="0" err="1"/>
              <a:t>product_category</a:t>
            </a:r>
            <a:r>
              <a:rPr lang="en-US" dirty="0"/>
              <a:t>: </a:t>
            </a:r>
            <a:r>
              <a:rPr lang="en-US" dirty="0" err="1"/>
              <a:t>kategorija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</a:p>
          <a:p>
            <a:r>
              <a:rPr lang="en-US" dirty="0" err="1"/>
              <a:t>product_season</a:t>
            </a:r>
            <a:r>
              <a:rPr lang="en-US" dirty="0"/>
              <a:t>: </a:t>
            </a:r>
            <a:r>
              <a:rPr lang="en-US" dirty="0" err="1"/>
              <a:t>godi</a:t>
            </a:r>
            <a:r>
              <a:rPr lang="sr-Latn-RS" dirty="0"/>
              <a:t>šnje doba</a:t>
            </a:r>
          </a:p>
          <a:p>
            <a:r>
              <a:rPr lang="en-US" dirty="0"/>
              <a:t>p</a:t>
            </a:r>
            <a:r>
              <a:rPr lang="sr-Latn-RS" dirty="0"/>
              <a:t>roduct</a:t>
            </a:r>
            <a:r>
              <a:rPr lang="en-US" dirty="0"/>
              <a:t>_condition: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</a:p>
          <a:p>
            <a:r>
              <a:rPr lang="en-US" dirty="0" err="1"/>
              <a:t>product_like_count</a:t>
            </a:r>
            <a:r>
              <a:rPr lang="en-US" dirty="0"/>
              <a:t>: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lajkova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/>
              <a:t>sold (true, false): </a:t>
            </a:r>
            <a:r>
              <a:rPr lang="en-US" dirty="0" err="1"/>
              <a:t>prodato</a:t>
            </a:r>
            <a:r>
              <a:rPr lang="en-US" dirty="0"/>
              <a:t>/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prodato</a:t>
            </a:r>
            <a:endParaRPr lang="en-US" dirty="0"/>
          </a:p>
          <a:p>
            <a:r>
              <a:rPr lang="en-US" dirty="0"/>
              <a:t>reserved (true, false): </a:t>
            </a:r>
            <a:r>
              <a:rPr lang="en-US" dirty="0" err="1"/>
              <a:t>rezervisano</a:t>
            </a:r>
            <a:r>
              <a:rPr lang="en-US" dirty="0"/>
              <a:t>/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rezervisano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580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321" y="2310748"/>
            <a:ext cx="9613861" cy="3599316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available (true, false): </a:t>
            </a:r>
            <a:r>
              <a:rPr lang="en-US" dirty="0" err="1"/>
              <a:t>dostupno</a:t>
            </a:r>
            <a:r>
              <a:rPr lang="en-US" dirty="0"/>
              <a:t>/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dostupno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porud</a:t>
            </a:r>
            <a:r>
              <a:rPr lang="sr-Latn-RS" dirty="0"/>
              <a:t>žbinu</a:t>
            </a:r>
            <a:endParaRPr lang="en-US" dirty="0"/>
          </a:p>
          <a:p>
            <a:r>
              <a:rPr lang="en-US" dirty="0" err="1"/>
              <a:t>in_stock</a:t>
            </a:r>
            <a:r>
              <a:rPr lang="en-US" dirty="0"/>
              <a:t> (true, false): </a:t>
            </a:r>
            <a:r>
              <a:rPr lang="en-US" dirty="0" err="1"/>
              <a:t>dostupno</a:t>
            </a:r>
            <a:r>
              <a:rPr lang="en-US" dirty="0"/>
              <a:t>/</a:t>
            </a:r>
            <a:r>
              <a:rPr lang="en-US" dirty="0" err="1"/>
              <a:t>nije</a:t>
            </a:r>
            <a:r>
              <a:rPr lang="en-US" dirty="0"/>
              <a:t> </a:t>
            </a:r>
            <a:r>
              <a:rPr lang="en-US" dirty="0" err="1"/>
              <a:t>dostupno</a:t>
            </a:r>
            <a:r>
              <a:rPr lang="en-US" dirty="0"/>
              <a:t> </a:t>
            </a:r>
            <a:r>
              <a:rPr lang="sr-Latn-RS" dirty="0"/>
              <a:t>na lageru</a:t>
            </a:r>
          </a:p>
          <a:p>
            <a:r>
              <a:rPr lang="en-US" dirty="0" err="1"/>
              <a:t>should_be_gone</a:t>
            </a:r>
            <a:r>
              <a:rPr lang="en-US" dirty="0"/>
              <a:t> (true, false): da li </a:t>
            </a:r>
            <a:r>
              <a:rPr lang="en-US" dirty="0" err="1"/>
              <a:t>proizvod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da se </a:t>
            </a:r>
            <a:r>
              <a:rPr lang="en-US" dirty="0" err="1"/>
              <a:t>pov</a:t>
            </a:r>
            <a:r>
              <a:rPr lang="sr-Latn-RS" dirty="0"/>
              <a:t>uč</a:t>
            </a:r>
            <a:r>
              <a:rPr lang="en-US" dirty="0"/>
              <a:t>e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prodaje</a:t>
            </a:r>
            <a:endParaRPr lang="sr-Latn-RS" dirty="0"/>
          </a:p>
          <a:p>
            <a:r>
              <a:rPr lang="sr-Latn-RS" dirty="0"/>
              <a:t>brand</a:t>
            </a:r>
            <a:r>
              <a:rPr lang="en-US" dirty="0"/>
              <a:t>_id: </a:t>
            </a:r>
            <a:r>
              <a:rPr lang="en-US" dirty="0" err="1"/>
              <a:t>identifikaciona</a:t>
            </a:r>
            <a:r>
              <a:rPr lang="en-US" dirty="0"/>
              <a:t> </a:t>
            </a:r>
            <a:r>
              <a:rPr lang="en-US" dirty="0" err="1"/>
              <a:t>oznaka</a:t>
            </a:r>
            <a:r>
              <a:rPr lang="en-US" dirty="0"/>
              <a:t> </a:t>
            </a:r>
            <a:r>
              <a:rPr lang="en-US" dirty="0" err="1"/>
              <a:t>brenda</a:t>
            </a:r>
            <a:endParaRPr lang="en-US" dirty="0"/>
          </a:p>
          <a:p>
            <a:r>
              <a:rPr lang="en-US" dirty="0"/>
              <a:t>b</a:t>
            </a:r>
            <a:r>
              <a:rPr lang="sr-Latn-RS" dirty="0"/>
              <a:t>r</a:t>
            </a:r>
            <a:r>
              <a:rPr lang="en-US" dirty="0" err="1"/>
              <a:t>and_name</a:t>
            </a:r>
            <a:r>
              <a:rPr lang="en-US" dirty="0"/>
              <a:t>: </a:t>
            </a:r>
            <a:r>
              <a:rPr lang="en-US" dirty="0" err="1"/>
              <a:t>naziv</a:t>
            </a:r>
            <a:r>
              <a:rPr lang="en-US" dirty="0"/>
              <a:t> </a:t>
            </a:r>
            <a:r>
              <a:rPr lang="en-US" dirty="0" err="1"/>
              <a:t>brenda</a:t>
            </a:r>
            <a:endParaRPr lang="en-US" dirty="0"/>
          </a:p>
          <a:p>
            <a:r>
              <a:rPr lang="en-US" dirty="0" err="1"/>
              <a:t>brand_url</a:t>
            </a:r>
            <a:r>
              <a:rPr lang="en-US" dirty="0"/>
              <a:t>: </a:t>
            </a:r>
            <a:r>
              <a:rPr lang="en-US" dirty="0" err="1"/>
              <a:t>adresa</a:t>
            </a:r>
            <a:r>
              <a:rPr lang="en-US" dirty="0"/>
              <a:t> </a:t>
            </a:r>
            <a:r>
              <a:rPr lang="sr-Latn-RS" dirty="0"/>
              <a:t>b</a:t>
            </a:r>
            <a:r>
              <a:rPr lang="en-US" dirty="0" err="1"/>
              <a:t>renda</a:t>
            </a:r>
            <a:endParaRPr lang="en-US" dirty="0"/>
          </a:p>
          <a:p>
            <a:r>
              <a:rPr lang="en-US" dirty="0" err="1"/>
              <a:t>product_material</a:t>
            </a:r>
            <a:r>
              <a:rPr lang="en-US" dirty="0"/>
              <a:t>: </a:t>
            </a:r>
            <a:r>
              <a:rPr lang="en-US" dirty="0" err="1"/>
              <a:t>materi</a:t>
            </a:r>
            <a:r>
              <a:rPr lang="sr-Latn-RS" dirty="0"/>
              <a:t>j</a:t>
            </a:r>
            <a:r>
              <a:rPr lang="en-US" dirty="0"/>
              <a:t>al </a:t>
            </a:r>
            <a:r>
              <a:rPr lang="en-US" dirty="0" err="1"/>
              <a:t>proizvoda</a:t>
            </a:r>
            <a:r>
              <a:rPr lang="en-US" dirty="0"/>
              <a:t> </a:t>
            </a:r>
          </a:p>
          <a:p>
            <a:r>
              <a:rPr lang="en-US" dirty="0" err="1"/>
              <a:t>product_color</a:t>
            </a:r>
            <a:r>
              <a:rPr lang="en-US" dirty="0"/>
              <a:t>: </a:t>
            </a:r>
            <a:r>
              <a:rPr lang="en-US" dirty="0" err="1"/>
              <a:t>boja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</a:p>
          <a:p>
            <a:r>
              <a:rPr lang="en-US" dirty="0" err="1"/>
              <a:t>price_USD</a:t>
            </a:r>
            <a:r>
              <a:rPr lang="en-US" dirty="0"/>
              <a:t>: </a:t>
            </a:r>
            <a:r>
              <a:rPr lang="en-US" dirty="0" err="1"/>
              <a:t>cena</a:t>
            </a:r>
            <a:r>
              <a:rPr lang="en-US" dirty="0"/>
              <a:t> u </a:t>
            </a:r>
            <a:r>
              <a:rPr lang="en-US" dirty="0" err="1"/>
              <a:t>dolarima</a:t>
            </a:r>
            <a:endParaRPr lang="en-US" dirty="0"/>
          </a:p>
          <a:p>
            <a:r>
              <a:rPr lang="en-US" dirty="0" err="1"/>
              <a:t>seller_price</a:t>
            </a:r>
            <a:r>
              <a:rPr lang="en-US" dirty="0"/>
              <a:t>: </a:t>
            </a:r>
            <a:r>
              <a:rPr lang="en-US" dirty="0" err="1"/>
              <a:t>cena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kojoj</a:t>
            </a:r>
            <a:r>
              <a:rPr lang="en-US" dirty="0"/>
              <a:t> </a:t>
            </a:r>
            <a:r>
              <a:rPr lang="en-US" dirty="0" err="1"/>
              <a:t>prodavac</a:t>
            </a:r>
            <a:r>
              <a:rPr lang="en-US" dirty="0"/>
              <a:t> </a:t>
            </a:r>
            <a:r>
              <a:rPr lang="en-US" dirty="0" err="1"/>
              <a:t>prodaje</a:t>
            </a:r>
            <a:r>
              <a:rPr lang="en-US" dirty="0"/>
              <a:t> </a:t>
            </a:r>
            <a:r>
              <a:rPr lang="en-US" dirty="0" err="1"/>
              <a:t>proizvod</a:t>
            </a:r>
            <a:endParaRPr lang="en-US" dirty="0"/>
          </a:p>
          <a:p>
            <a:r>
              <a:rPr lang="en-US" dirty="0" err="1"/>
              <a:t>seller_earning</a:t>
            </a:r>
            <a:r>
              <a:rPr lang="en-US" dirty="0"/>
              <a:t>: </a:t>
            </a:r>
            <a:r>
              <a:rPr lang="en-US" dirty="0" err="1"/>
              <a:t>zarada</a:t>
            </a:r>
            <a:r>
              <a:rPr lang="en-US" dirty="0"/>
              <a:t> </a:t>
            </a:r>
            <a:r>
              <a:rPr lang="en-US" dirty="0" err="1"/>
              <a:t>prodavca</a:t>
            </a:r>
            <a:r>
              <a:rPr lang="en-US" dirty="0"/>
              <a:t>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prodati</a:t>
            </a:r>
            <a:r>
              <a:rPr lang="en-US" dirty="0"/>
              <a:t> </a:t>
            </a:r>
            <a:r>
              <a:rPr lang="en-US" dirty="0" err="1"/>
              <a:t>proizvod</a:t>
            </a:r>
            <a:endParaRPr lang="en-US" dirty="0"/>
          </a:p>
          <a:p>
            <a:r>
              <a:rPr lang="en-US" dirty="0" err="1"/>
              <a:t>seller_badge</a:t>
            </a:r>
            <a:r>
              <a:rPr lang="en-US" dirty="0"/>
              <a:t>: bed</a:t>
            </a:r>
            <a:r>
              <a:rPr lang="sr-Latn-RS" dirty="0"/>
              <a:t>ž prodavca</a:t>
            </a:r>
          </a:p>
          <a:p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 postojećih kolona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0564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sr-Latn-RS" dirty="0"/>
              <a:t>has</a:t>
            </a:r>
            <a:r>
              <a:rPr lang="en-US" dirty="0"/>
              <a:t>_</a:t>
            </a:r>
            <a:r>
              <a:rPr lang="en-US" dirty="0" err="1"/>
              <a:t>cross_border_fees</a:t>
            </a:r>
            <a:r>
              <a:rPr lang="sr-Latn-RS" dirty="0"/>
              <a:t> (true, false)</a:t>
            </a:r>
            <a:r>
              <a:rPr lang="en-US" dirty="0"/>
              <a:t>: </a:t>
            </a:r>
            <a:r>
              <a:rPr lang="en-US" dirty="0" err="1"/>
              <a:t>postojanje</a:t>
            </a:r>
            <a:r>
              <a:rPr lang="en-US" dirty="0"/>
              <a:t> </a:t>
            </a:r>
            <a:r>
              <a:rPr lang="en-US" dirty="0" err="1"/>
              <a:t>prekograni</a:t>
            </a:r>
            <a:r>
              <a:rPr lang="sr-Latn-RS" dirty="0"/>
              <a:t>čnih naknada</a:t>
            </a:r>
          </a:p>
          <a:p>
            <a:r>
              <a:rPr lang="sr-Latn-RS" dirty="0"/>
              <a:t>buyers</a:t>
            </a:r>
            <a:r>
              <a:rPr lang="en-US" dirty="0"/>
              <a:t>_fees: </a:t>
            </a:r>
            <a:r>
              <a:rPr lang="en-US" dirty="0" err="1"/>
              <a:t>dodatne</a:t>
            </a:r>
            <a:r>
              <a:rPr lang="en-US" dirty="0"/>
              <a:t> </a:t>
            </a:r>
            <a:r>
              <a:rPr lang="en-US" dirty="0" err="1"/>
              <a:t>naknade</a:t>
            </a:r>
            <a:r>
              <a:rPr lang="en-US" dirty="0"/>
              <a:t> </a:t>
            </a:r>
            <a:r>
              <a:rPr lang="en-US" dirty="0" err="1"/>
              <a:t>kupca</a:t>
            </a:r>
            <a:endParaRPr lang="en-US" dirty="0"/>
          </a:p>
          <a:p>
            <a:r>
              <a:rPr lang="en-US" dirty="0" err="1"/>
              <a:t>warehouse_name</a:t>
            </a:r>
            <a:r>
              <a:rPr lang="en-US" dirty="0"/>
              <a:t>: </a:t>
            </a:r>
            <a:r>
              <a:rPr lang="en-US" dirty="0" err="1"/>
              <a:t>naziv</a:t>
            </a:r>
            <a:r>
              <a:rPr lang="en-US" dirty="0"/>
              <a:t> </a:t>
            </a:r>
            <a:r>
              <a:rPr lang="en-US" dirty="0" err="1"/>
              <a:t>skladista</a:t>
            </a:r>
            <a:endParaRPr lang="en-US" dirty="0"/>
          </a:p>
          <a:p>
            <a:r>
              <a:rPr lang="en-US" dirty="0" err="1"/>
              <a:t>seller_id</a:t>
            </a:r>
            <a:r>
              <a:rPr lang="en-US" dirty="0"/>
              <a:t>: </a:t>
            </a:r>
            <a:r>
              <a:rPr lang="en-US" dirty="0" err="1"/>
              <a:t>identifikaciona</a:t>
            </a:r>
            <a:r>
              <a:rPr lang="en-US" dirty="0"/>
              <a:t> </a:t>
            </a:r>
            <a:r>
              <a:rPr lang="en-US" dirty="0" err="1"/>
              <a:t>oznaka</a:t>
            </a:r>
            <a:r>
              <a:rPr lang="en-US" dirty="0"/>
              <a:t> </a:t>
            </a:r>
            <a:r>
              <a:rPr lang="en-US" dirty="0" err="1"/>
              <a:t>prodavca</a:t>
            </a:r>
            <a:endParaRPr lang="en-US" dirty="0"/>
          </a:p>
          <a:p>
            <a:r>
              <a:rPr lang="en-US" dirty="0" err="1"/>
              <a:t>seller_username</a:t>
            </a:r>
            <a:r>
              <a:rPr lang="en-US" dirty="0"/>
              <a:t>: </a:t>
            </a:r>
            <a:r>
              <a:rPr lang="en-US" dirty="0" err="1"/>
              <a:t>korisni</a:t>
            </a:r>
            <a:r>
              <a:rPr lang="sr-Latn-RS" dirty="0"/>
              <a:t>čko ime prodavca</a:t>
            </a:r>
          </a:p>
          <a:p>
            <a:r>
              <a:rPr lang="sr-Latn-RS" dirty="0"/>
              <a:t>usually</a:t>
            </a:r>
            <a:r>
              <a:rPr lang="en-US" dirty="0"/>
              <a:t>_</a:t>
            </a:r>
            <a:r>
              <a:rPr lang="en-US" dirty="0" err="1"/>
              <a:t>ships_within</a:t>
            </a:r>
            <a:r>
              <a:rPr lang="en-US" dirty="0"/>
              <a:t>: </a:t>
            </a:r>
            <a:r>
              <a:rPr lang="en-US" dirty="0" err="1"/>
              <a:t>rok</a:t>
            </a:r>
            <a:r>
              <a:rPr lang="en-US" dirty="0"/>
              <a:t> </a:t>
            </a:r>
            <a:r>
              <a:rPr lang="en-US" dirty="0" err="1"/>
              <a:t>dostave</a:t>
            </a:r>
            <a:r>
              <a:rPr lang="en-US" dirty="0"/>
              <a:t> </a:t>
            </a:r>
            <a:r>
              <a:rPr lang="en-US" dirty="0" err="1"/>
              <a:t>proi</a:t>
            </a:r>
            <a:r>
              <a:rPr lang="sr-Latn-RS" dirty="0"/>
              <a:t>zvoda</a:t>
            </a:r>
          </a:p>
          <a:p>
            <a:r>
              <a:rPr lang="sr-Latn-RS" dirty="0" err="1"/>
              <a:t>s</a:t>
            </a:r>
            <a:r>
              <a:rPr lang="en-US" dirty="0" err="1"/>
              <a:t>eller_country</a:t>
            </a:r>
            <a:r>
              <a:rPr lang="en-US" dirty="0"/>
              <a:t>: </a:t>
            </a:r>
            <a:r>
              <a:rPr lang="en-US" dirty="0" err="1"/>
              <a:t>dr</a:t>
            </a:r>
            <a:r>
              <a:rPr lang="sr-Latn-RS" dirty="0"/>
              <a:t>žava prodavca</a:t>
            </a:r>
          </a:p>
          <a:p>
            <a:r>
              <a:rPr lang="sr-Latn-RS" dirty="0"/>
              <a:t>seller</a:t>
            </a:r>
            <a:r>
              <a:rPr lang="en-US" dirty="0"/>
              <a:t>_</a:t>
            </a:r>
            <a:r>
              <a:rPr lang="en-US" dirty="0" err="1"/>
              <a:t>products_sold</a:t>
            </a:r>
            <a:r>
              <a:rPr lang="en-US" dirty="0"/>
              <a:t>: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endParaRPr lang="en-US" dirty="0"/>
          </a:p>
          <a:p>
            <a:r>
              <a:rPr lang="en-US" dirty="0" err="1"/>
              <a:t>seller_num_products_listed</a:t>
            </a:r>
            <a:r>
              <a:rPr lang="en-US" dirty="0"/>
              <a:t>: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prodavac</a:t>
            </a:r>
            <a:r>
              <a:rPr lang="en-US" dirty="0"/>
              <a:t> </a:t>
            </a:r>
            <a:r>
              <a:rPr lang="en-US" dirty="0" err="1"/>
              <a:t>ima</a:t>
            </a:r>
            <a:r>
              <a:rPr lang="en-US" dirty="0"/>
              <a:t> u </a:t>
            </a:r>
            <a:r>
              <a:rPr lang="en-US" dirty="0" err="1"/>
              <a:t>ponudi</a:t>
            </a:r>
            <a:endParaRPr lang="en-US" dirty="0"/>
          </a:p>
          <a:p>
            <a:r>
              <a:rPr lang="en-US" dirty="0" err="1"/>
              <a:t>seller_community_rank</a:t>
            </a:r>
            <a:r>
              <a:rPr lang="en-US" dirty="0"/>
              <a:t>: rang u </a:t>
            </a:r>
            <a:r>
              <a:rPr lang="en-US" dirty="0" err="1"/>
              <a:t>zajednici</a:t>
            </a:r>
            <a:r>
              <a:rPr lang="en-US" dirty="0"/>
              <a:t> </a:t>
            </a:r>
            <a:r>
              <a:rPr lang="en-US" dirty="0" err="1"/>
              <a:t>prodavaca</a:t>
            </a:r>
            <a:endParaRPr lang="en-US" dirty="0"/>
          </a:p>
          <a:p>
            <a:r>
              <a:rPr lang="en-US" dirty="0" err="1"/>
              <a:t>seller_num_followers</a:t>
            </a:r>
            <a:r>
              <a:rPr lang="en-US" dirty="0"/>
              <a:t>: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pratilaca</a:t>
            </a:r>
            <a:r>
              <a:rPr lang="en-US" dirty="0"/>
              <a:t> </a:t>
            </a:r>
            <a:r>
              <a:rPr lang="en-US" dirty="0" err="1"/>
              <a:t>prodavca</a:t>
            </a:r>
            <a:endParaRPr lang="en-US" dirty="0"/>
          </a:p>
          <a:p>
            <a:r>
              <a:rPr lang="en-US" dirty="0" err="1"/>
              <a:t>seller_pass_rate</a:t>
            </a:r>
            <a:r>
              <a:rPr lang="en-US" dirty="0"/>
              <a:t>:  </a:t>
            </a:r>
            <a:r>
              <a:rPr lang="en-US" dirty="0" err="1"/>
              <a:t>stopa</a:t>
            </a:r>
            <a:r>
              <a:rPr lang="en-US" dirty="0"/>
              <a:t> </a:t>
            </a:r>
            <a:r>
              <a:rPr lang="en-US" dirty="0" err="1"/>
              <a:t>uspe</a:t>
            </a:r>
            <a:r>
              <a:rPr lang="sr-Latn-RS" dirty="0"/>
              <a:t>šnosti prodavca</a:t>
            </a:r>
            <a:endParaRPr lang="en-US" dirty="0"/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Semantika postojećih kolona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000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/>
              <a:t>Prostiranje podataka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r-Latn-RS" dirty="0"/>
              <a:t>Proizvod   </a:t>
            </a:r>
            <a:r>
              <a:rPr lang="sr-Latn-RS" baseline="30000" dirty="0"/>
              <a:t>1-1</a:t>
            </a:r>
            <a:r>
              <a:rPr lang="sr-Latn-RS" dirty="0"/>
              <a:t>              </a:t>
            </a:r>
            <a:r>
              <a:rPr lang="sr-Latn-RS" baseline="30000" dirty="0"/>
              <a:t>1-1    </a:t>
            </a:r>
            <a:r>
              <a:rPr lang="sr-Latn-RS" dirty="0"/>
              <a:t>Brend</a:t>
            </a:r>
          </a:p>
          <a:p>
            <a:pPr marL="0" indent="0">
              <a:buNone/>
            </a:pPr>
            <a:endParaRPr lang="sr-Latn-RS" dirty="0"/>
          </a:p>
          <a:p>
            <a:pPr marL="0" indent="0">
              <a:buNone/>
            </a:pPr>
            <a:r>
              <a:rPr lang="sr-Latn-RS" dirty="0"/>
              <a:t>Proizvod   </a:t>
            </a:r>
            <a:r>
              <a:rPr lang="sr-Latn-RS" baseline="30000" dirty="0"/>
              <a:t>1-1</a:t>
            </a:r>
            <a:r>
              <a:rPr lang="sr-Latn-RS" dirty="0"/>
              <a:t>              </a:t>
            </a:r>
            <a:r>
              <a:rPr lang="sr-Latn-RS" baseline="30000" dirty="0"/>
              <a:t>1-1</a:t>
            </a:r>
            <a:r>
              <a:rPr lang="sr-Latn-RS" dirty="0"/>
              <a:t>   Status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sr-Latn-RS" dirty="0"/>
              <a:t>Proizvod  </a:t>
            </a:r>
            <a:r>
              <a:rPr lang="sr-Latn-RS" baseline="30000" dirty="0"/>
              <a:t>1-1</a:t>
            </a:r>
            <a:r>
              <a:rPr lang="sr-Latn-RS" dirty="0"/>
              <a:t>              </a:t>
            </a:r>
            <a:r>
              <a:rPr lang="sr-Latn-RS" baseline="30000" dirty="0"/>
              <a:t>1-1</a:t>
            </a:r>
            <a:r>
              <a:rPr lang="sr-Latn-RS" dirty="0"/>
              <a:t>   Prodavac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2316480" y="2560321"/>
            <a:ext cx="169817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2246811" y="3454038"/>
            <a:ext cx="1767840" cy="14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2184400" y="4368074"/>
            <a:ext cx="1698171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36091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7953-F3D6-CB80-E8BD-3AF2616C61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Skripta</a:t>
            </a:r>
            <a:r>
              <a:rPr lang="en-US" dirty="0"/>
              <a:t> za </a:t>
            </a:r>
            <a:r>
              <a:rPr lang="en-US" dirty="0" err="1"/>
              <a:t>kreiranje</a:t>
            </a:r>
            <a:r>
              <a:rPr lang="en-US" dirty="0"/>
              <a:t> JSON </a:t>
            </a:r>
            <a:r>
              <a:rPr lang="en-US" dirty="0" err="1"/>
              <a:t>fajla</a:t>
            </a:r>
            <a:r>
              <a:rPr lang="en-US" dirty="0"/>
              <a:t> </a:t>
            </a:r>
            <a:r>
              <a:rPr lang="en-US" i="1" dirty="0"/>
              <a:t>Products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D25EFE-F61D-EC98-E6E8-7CB8C74F8E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80" y="2099669"/>
            <a:ext cx="5750820" cy="4560874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994B633-0AE8-FE6B-636D-9DA756D85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17197"/>
            <a:ext cx="4279641" cy="34185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F5552C-5FF8-F010-7C12-C51DC1D0D1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5645020"/>
            <a:ext cx="3533192" cy="1015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783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4235" y="2415178"/>
            <a:ext cx="7969426" cy="3598863"/>
          </a:xfrm>
        </p:spPr>
      </p:pic>
      <p:sp>
        <p:nvSpPr>
          <p:cNvPr id="4" name="TextBox 3"/>
          <p:cNvSpPr txBox="1"/>
          <p:nvPr/>
        </p:nvSpPr>
        <p:spPr>
          <a:xfrm>
            <a:off x="680321" y="888274"/>
            <a:ext cx="8853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Inicijalna</a:t>
            </a:r>
            <a:r>
              <a:rPr lang="en-US" sz="3600" dirty="0"/>
              <a:t> l</a:t>
            </a:r>
            <a:r>
              <a:rPr lang="sr-Latn-RS" sz="3600" dirty="0"/>
              <a:t>ogička šema</a:t>
            </a:r>
            <a:r>
              <a:rPr lang="en-US" sz="3600" dirty="0"/>
              <a:t> </a:t>
            </a:r>
            <a:r>
              <a:rPr lang="en-US" sz="3600" dirty="0" err="1"/>
              <a:t>kolekcije</a:t>
            </a:r>
            <a:r>
              <a:rPr lang="en-US" sz="3600" dirty="0"/>
              <a:t> </a:t>
            </a:r>
            <a:r>
              <a:rPr lang="en-US" sz="3600" i="1" dirty="0"/>
              <a:t>Products</a:t>
            </a:r>
          </a:p>
        </p:txBody>
      </p:sp>
    </p:spTree>
    <p:extLst>
      <p:ext uri="{BB962C8B-B14F-4D97-AF65-F5344CB8AC3E}">
        <p14:creationId xmlns:p14="http://schemas.microsoft.com/office/powerpoint/2010/main" val="270784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 txBox="1">
            <a:spLocks noGrp="1"/>
          </p:cNvSpPr>
          <p:nvPr>
            <p:ph type="title"/>
          </p:nvPr>
        </p:nvSpPr>
        <p:spPr>
          <a:xfrm>
            <a:off x="680321" y="998231"/>
            <a:ext cx="9613861" cy="59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Inicijalna</a:t>
            </a:r>
            <a:r>
              <a:rPr lang="en-US" sz="3600" dirty="0"/>
              <a:t> l</a:t>
            </a:r>
            <a:r>
              <a:rPr lang="sr-Latn-RS" sz="3600" dirty="0"/>
              <a:t>ogička šema</a:t>
            </a:r>
            <a:r>
              <a:rPr lang="en-US" sz="3600" dirty="0"/>
              <a:t> </a:t>
            </a:r>
            <a:r>
              <a:rPr lang="en-US" sz="3600" dirty="0" err="1"/>
              <a:t>kolekcije</a:t>
            </a:r>
            <a:r>
              <a:rPr lang="en-US" sz="3600" dirty="0"/>
              <a:t> </a:t>
            </a:r>
            <a:r>
              <a:rPr lang="en-US" sz="3600" i="1" dirty="0"/>
              <a:t>Products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890" y="2502262"/>
            <a:ext cx="4863134" cy="3598863"/>
          </a:xfr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297" y="3460205"/>
            <a:ext cx="6686550" cy="1209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66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AC54F-F61E-961C-BF22-06F2335E0D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Agregacije</a:t>
            </a:r>
            <a:r>
              <a:rPr lang="en-US" dirty="0"/>
              <a:t> – </a:t>
            </a:r>
            <a:r>
              <a:rPr lang="en-US" dirty="0" err="1"/>
              <a:t>Tijana</a:t>
            </a:r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1CB25E-711A-0380-945F-5F4FF66445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3052" y="2228669"/>
            <a:ext cx="5663604" cy="4393944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8CDAADE-08BE-21D1-A4EF-9C00E51A73A9}"/>
              </a:ext>
            </a:extLst>
          </p:cNvPr>
          <p:cNvSpPr txBox="1"/>
          <p:nvPr/>
        </p:nvSpPr>
        <p:spPr>
          <a:xfrm>
            <a:off x="680320" y="2228669"/>
            <a:ext cx="360243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1.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prvih</a:t>
            </a:r>
            <a:r>
              <a:rPr lang="en-US" dirty="0"/>
              <a:t> 30 </a:t>
            </a:r>
            <a:r>
              <a:rPr lang="en-US" dirty="0" err="1"/>
              <a:t>najskupljih</a:t>
            </a:r>
            <a:r>
              <a:rPr lang="en-US" dirty="0"/>
              <a:t> </a:t>
            </a:r>
            <a:r>
              <a:rPr lang="en-US" dirty="0" err="1"/>
              <a:t>kombinacija</a:t>
            </a:r>
            <a:r>
              <a:rPr lang="en-US" dirty="0"/>
              <a:t> </a:t>
            </a:r>
            <a:r>
              <a:rPr lang="en-US" dirty="0" err="1"/>
              <a:t>farmerki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ne </a:t>
            </a:r>
            <a:r>
              <a:rPr lang="en-US" dirty="0" err="1"/>
              <a:t>kostaju</a:t>
            </a:r>
            <a:r>
              <a:rPr lang="en-US" dirty="0"/>
              <a:t> vise od 200 USD, </a:t>
            </a:r>
            <a:r>
              <a:rPr lang="en-US" dirty="0" err="1"/>
              <a:t>grupisanih</a:t>
            </a:r>
            <a:r>
              <a:rPr lang="en-US" dirty="0"/>
              <a:t> po </a:t>
            </a:r>
            <a:r>
              <a:rPr lang="en-US" dirty="0" err="1"/>
              <a:t>parovima</a:t>
            </a:r>
            <a:r>
              <a:rPr lang="en-US" dirty="0"/>
              <a:t> </a:t>
            </a:r>
            <a:r>
              <a:rPr lang="en-US" dirty="0" err="1"/>
              <a:t>sezona-materijal</a:t>
            </a:r>
            <a:r>
              <a:rPr lang="en-US" dirty="0"/>
              <a:t>,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prosecnoj</a:t>
            </a:r>
            <a:r>
              <a:rPr lang="en-US" dirty="0"/>
              <a:t> </a:t>
            </a:r>
            <a:r>
              <a:rPr lang="en-US" dirty="0" err="1"/>
              <a:t>ceni</a:t>
            </a:r>
            <a:r>
              <a:rPr lang="en-US" dirty="0"/>
              <a:t> </a:t>
            </a:r>
            <a:r>
              <a:rPr lang="en-US" dirty="0" err="1"/>
              <a:t>farmerki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kombinaciju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minimalnu</a:t>
            </a:r>
            <a:r>
              <a:rPr lang="en-US" dirty="0"/>
              <a:t>, </a:t>
            </a:r>
            <a:r>
              <a:rPr lang="en-US" dirty="0" err="1"/>
              <a:t>maksimalnu</a:t>
            </a:r>
            <a:r>
              <a:rPr lang="en-US" dirty="0"/>
              <a:t> </a:t>
            </a:r>
            <a:r>
              <a:rPr lang="en-US" dirty="0" err="1"/>
              <a:t>cenu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najcescu</a:t>
            </a:r>
            <a:r>
              <a:rPr lang="en-US" dirty="0"/>
              <a:t> </a:t>
            </a:r>
            <a:r>
              <a:rPr lang="en-US" dirty="0" err="1"/>
              <a:t>boju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grupu</a:t>
            </a:r>
            <a:r>
              <a:rPr lang="en-US" dirty="0"/>
              <a:t> </a:t>
            </a:r>
            <a:r>
              <a:rPr lang="en-US" dirty="0" err="1"/>
              <a:t>farmerki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33921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1DDDB3E-DC0D-86F6-CE28-FF26A53890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02" y="2228670"/>
            <a:ext cx="5959804" cy="416279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9C53598-4143-792E-E26A-7B145A2F82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8111" y="2228670"/>
            <a:ext cx="5078080" cy="165286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ED43CB6-FB9E-823E-5C8D-70574E9A57F4}"/>
              </a:ext>
            </a:extLst>
          </p:cNvPr>
          <p:cNvSpPr txBox="1"/>
          <p:nvPr/>
        </p:nvSpPr>
        <p:spPr>
          <a:xfrm>
            <a:off x="219588" y="683949"/>
            <a:ext cx="95682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1.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prvih</a:t>
            </a:r>
            <a:r>
              <a:rPr lang="en-US" dirty="0"/>
              <a:t> 30 </a:t>
            </a:r>
            <a:r>
              <a:rPr lang="en-US" dirty="0" err="1"/>
              <a:t>najskupljih</a:t>
            </a:r>
            <a:r>
              <a:rPr lang="en-US" dirty="0"/>
              <a:t> </a:t>
            </a:r>
            <a:r>
              <a:rPr lang="en-US" dirty="0" err="1"/>
              <a:t>kombinacija</a:t>
            </a:r>
            <a:r>
              <a:rPr lang="en-US" dirty="0"/>
              <a:t> </a:t>
            </a:r>
            <a:r>
              <a:rPr lang="en-US" dirty="0" err="1"/>
              <a:t>farmerki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ne </a:t>
            </a:r>
            <a:r>
              <a:rPr lang="en-US" dirty="0" err="1"/>
              <a:t>kostaju</a:t>
            </a:r>
            <a:r>
              <a:rPr lang="en-US" dirty="0"/>
              <a:t> vise od 200 USD, </a:t>
            </a:r>
            <a:r>
              <a:rPr lang="en-US" dirty="0" err="1"/>
              <a:t>grupisanih</a:t>
            </a:r>
            <a:r>
              <a:rPr lang="en-US" dirty="0"/>
              <a:t> po </a:t>
            </a:r>
            <a:r>
              <a:rPr lang="en-US" dirty="0" err="1"/>
              <a:t>parovima</a:t>
            </a:r>
            <a:r>
              <a:rPr lang="en-US" dirty="0"/>
              <a:t> </a:t>
            </a:r>
            <a:r>
              <a:rPr lang="en-US" dirty="0" err="1"/>
              <a:t>sezona-materijal</a:t>
            </a:r>
            <a:r>
              <a:rPr lang="en-US" dirty="0"/>
              <a:t>,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prosecnoj</a:t>
            </a:r>
            <a:r>
              <a:rPr lang="en-US" dirty="0"/>
              <a:t> </a:t>
            </a:r>
            <a:r>
              <a:rPr lang="en-US" dirty="0" err="1"/>
              <a:t>ceni</a:t>
            </a:r>
            <a:r>
              <a:rPr lang="en-US" dirty="0"/>
              <a:t> </a:t>
            </a:r>
            <a:r>
              <a:rPr lang="en-US" dirty="0" err="1"/>
              <a:t>farmerki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kombinaciju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</a:t>
            </a:r>
            <a:r>
              <a:rPr lang="en-US" dirty="0" err="1"/>
              <a:t>dodatno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minimalnu</a:t>
            </a:r>
            <a:r>
              <a:rPr lang="en-US" dirty="0"/>
              <a:t>, </a:t>
            </a:r>
            <a:r>
              <a:rPr lang="en-US" dirty="0" err="1"/>
              <a:t>maksimalnu</a:t>
            </a:r>
            <a:r>
              <a:rPr lang="en-US" dirty="0"/>
              <a:t> </a:t>
            </a:r>
            <a:r>
              <a:rPr lang="en-US" dirty="0" err="1"/>
              <a:t>cenu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najcescu</a:t>
            </a:r>
            <a:r>
              <a:rPr lang="en-US" dirty="0"/>
              <a:t> </a:t>
            </a:r>
            <a:r>
              <a:rPr lang="en-US" dirty="0" err="1"/>
              <a:t>boju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grupu</a:t>
            </a:r>
            <a:r>
              <a:rPr lang="en-US" dirty="0"/>
              <a:t> </a:t>
            </a:r>
            <a:r>
              <a:rPr lang="en-US" dirty="0" err="1"/>
              <a:t>farmerki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609875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49E09DD-26BA-928B-8674-F5D0CEEBF3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032" y="2240135"/>
            <a:ext cx="5355651" cy="407668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219588" y="683949"/>
            <a:ext cx="9736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2.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popularnost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putem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pratilaca</a:t>
            </a:r>
            <a:r>
              <a:rPr lang="en-US" dirty="0"/>
              <a:t> </a:t>
            </a:r>
            <a:r>
              <a:rPr lang="en-US" dirty="0" err="1"/>
              <a:t>prodavca</a:t>
            </a:r>
            <a:r>
              <a:rPr lang="en-US" dirty="0"/>
              <a:t> koji </a:t>
            </a:r>
            <a:r>
              <a:rPr lang="en-US" dirty="0" err="1"/>
              <a:t>pripada</a:t>
            </a:r>
            <a:r>
              <a:rPr lang="en-US" dirty="0"/>
              <a:t> </a:t>
            </a:r>
            <a:r>
              <a:rPr lang="en-US" dirty="0" err="1"/>
              <a:t>proizvodu</a:t>
            </a:r>
            <a:r>
              <a:rPr lang="en-US" dirty="0"/>
              <a:t>, a </a:t>
            </a:r>
            <a:r>
              <a:rPr lang="en-US" dirty="0" err="1"/>
              <a:t>zatim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najpopularniji</a:t>
            </a:r>
            <a:r>
              <a:rPr lang="en-US" dirty="0"/>
              <a:t> tip </a:t>
            </a:r>
            <a:r>
              <a:rPr lang="en-US" dirty="0" err="1"/>
              <a:t>proizvoda</a:t>
            </a:r>
            <a:r>
              <a:rPr lang="en-US" dirty="0"/>
              <a:t> koji se </a:t>
            </a:r>
            <a:r>
              <a:rPr lang="en-US" dirty="0" err="1"/>
              <a:t>pratiocima</a:t>
            </a:r>
            <a:r>
              <a:rPr lang="en-US" dirty="0"/>
              <a:t> </a:t>
            </a:r>
            <a:r>
              <a:rPr lang="en-US" dirty="0" err="1"/>
              <a:t>prikazuje.Rezultate</a:t>
            </a:r>
            <a:r>
              <a:rPr lang="en-US" dirty="0"/>
              <a:t> </a:t>
            </a:r>
            <a:r>
              <a:rPr lang="en-US" dirty="0" err="1"/>
              <a:t>sortirati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popularnosti</a:t>
            </a:r>
            <a:r>
              <a:rPr lang="en-US" dirty="0"/>
              <a:t> </a:t>
            </a:r>
            <a:r>
              <a:rPr lang="en-US" dirty="0" err="1"/>
              <a:t>kategorija</a:t>
            </a:r>
            <a:r>
              <a:rPr lang="en-US" dirty="0"/>
              <a:t>,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prva</a:t>
            </a:r>
            <a:r>
              <a:rPr lang="en-US" dirty="0"/>
              <a:t> </a:t>
            </a:r>
            <a:r>
              <a:rPr lang="en-US" dirty="0" err="1"/>
              <a:t>bude</a:t>
            </a:r>
            <a:r>
              <a:rPr lang="en-US" dirty="0"/>
              <a:t> </a:t>
            </a:r>
            <a:r>
              <a:rPr lang="en-US" dirty="0" err="1"/>
              <a:t>ona</a:t>
            </a:r>
            <a:r>
              <a:rPr lang="en-US" dirty="0"/>
              <a:t> </a:t>
            </a:r>
            <a:r>
              <a:rPr lang="en-US" dirty="0" err="1"/>
              <a:t>cije</a:t>
            </a:r>
            <a:r>
              <a:rPr lang="en-US" dirty="0"/>
              <a:t> </a:t>
            </a:r>
            <a:r>
              <a:rPr lang="en-US" dirty="0" err="1"/>
              <a:t>proizvode</a:t>
            </a:r>
            <a:r>
              <a:rPr lang="en-US" dirty="0"/>
              <a:t> je </a:t>
            </a:r>
            <a:r>
              <a:rPr lang="en-US" dirty="0" err="1"/>
              <a:t>najvise</a:t>
            </a:r>
            <a:r>
              <a:rPr lang="en-US" dirty="0"/>
              <a:t> </a:t>
            </a:r>
            <a:r>
              <a:rPr lang="en-US" dirty="0" err="1"/>
              <a:t>pratilaca</a:t>
            </a:r>
            <a:r>
              <a:rPr lang="en-US" dirty="0"/>
              <a:t> </a:t>
            </a:r>
            <a:r>
              <a:rPr lang="en-US" dirty="0" err="1"/>
              <a:t>videlo</a:t>
            </a:r>
            <a:r>
              <a:rPr lang="en-US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252DD7F-8D5C-0AA2-DB67-283CD9F3858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026" y="2240134"/>
            <a:ext cx="5865644" cy="4076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7972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219588" y="543990"/>
            <a:ext cx="10212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3. </a:t>
            </a:r>
            <a:r>
              <a:rPr lang="en-US" dirty="0" err="1"/>
              <a:t>Analizirati</a:t>
            </a:r>
            <a:r>
              <a:rPr lang="en-US" dirty="0"/>
              <a:t> </a:t>
            </a:r>
            <a:r>
              <a:rPr lang="en-US" dirty="0" err="1"/>
              <a:t>prodaju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po </a:t>
            </a:r>
            <a:r>
              <a:rPr lang="en-US" dirty="0" err="1"/>
              <a:t>sezoni</a:t>
            </a:r>
            <a:r>
              <a:rPr lang="en-US" dirty="0"/>
              <a:t>, </a:t>
            </a:r>
            <a:r>
              <a:rPr lang="en-US" dirty="0" err="1"/>
              <a:t>grupisanjem</a:t>
            </a:r>
            <a:r>
              <a:rPr lang="en-US" dirty="0"/>
              <a:t> po </a:t>
            </a:r>
            <a:r>
              <a:rPr lang="en-US" dirty="0" err="1"/>
              <a:t>sezoni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sezonu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prikazati</a:t>
            </a:r>
            <a:r>
              <a:rPr lang="en-US" dirty="0"/>
              <a:t>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</a:t>
            </a:r>
            <a:r>
              <a:rPr lang="en-US" dirty="0" err="1"/>
              <a:t>izracunati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koji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prodati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udeo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proizvodau</a:t>
            </a:r>
            <a:r>
              <a:rPr lang="en-US" dirty="0"/>
              <a:t>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celokupnu</a:t>
            </a:r>
            <a:r>
              <a:rPr lang="en-US" dirty="0"/>
              <a:t> </a:t>
            </a:r>
            <a:r>
              <a:rPr lang="en-US" dirty="0" err="1"/>
              <a:t>ponudu</a:t>
            </a:r>
            <a:r>
              <a:rPr lang="en-US" dirty="0"/>
              <a:t> po </a:t>
            </a:r>
            <a:r>
              <a:rPr lang="en-US" dirty="0" err="1"/>
              <a:t>sezoni</a:t>
            </a:r>
            <a:r>
              <a:rPr lang="en-US" dirty="0"/>
              <a:t>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sezonu</a:t>
            </a:r>
            <a:r>
              <a:rPr lang="en-US" dirty="0"/>
              <a:t>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najmanje</a:t>
            </a:r>
            <a:r>
              <a:rPr lang="en-US" dirty="0"/>
              <a:t> </a:t>
            </a:r>
            <a:r>
              <a:rPr lang="en-US" dirty="0" err="1"/>
              <a:t>prodala</a:t>
            </a:r>
            <a:r>
              <a:rPr lang="en-US" dirty="0"/>
              <a:t>, 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sortirati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udelu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u </a:t>
            </a:r>
            <a:r>
              <a:rPr lang="en-US" dirty="0" err="1"/>
              <a:t>opadajucem</a:t>
            </a:r>
            <a:r>
              <a:rPr lang="en-US" dirty="0"/>
              <a:t> </a:t>
            </a:r>
            <a:r>
              <a:rPr lang="en-US" dirty="0" err="1"/>
              <a:t>redosledu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264D27-4DD0-91B0-B965-4902433D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770" y="2248678"/>
            <a:ext cx="5107961" cy="44301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CD12F3-7E4D-6679-FAD0-1DFA261603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266" y="2248676"/>
            <a:ext cx="5921008" cy="4430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947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219588" y="543990"/>
            <a:ext cx="1021203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3. </a:t>
            </a:r>
            <a:r>
              <a:rPr lang="en-US" dirty="0" err="1"/>
              <a:t>Analizirati</a:t>
            </a:r>
            <a:r>
              <a:rPr lang="en-US" dirty="0"/>
              <a:t> </a:t>
            </a:r>
            <a:r>
              <a:rPr lang="en-US" dirty="0" err="1"/>
              <a:t>prodaju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po </a:t>
            </a:r>
            <a:r>
              <a:rPr lang="en-US" dirty="0" err="1"/>
              <a:t>sezoni</a:t>
            </a:r>
            <a:r>
              <a:rPr lang="en-US" dirty="0"/>
              <a:t>, </a:t>
            </a:r>
            <a:r>
              <a:rPr lang="en-US" dirty="0" err="1"/>
              <a:t>grupisanjem</a:t>
            </a:r>
            <a:r>
              <a:rPr lang="en-US" dirty="0"/>
              <a:t> po </a:t>
            </a:r>
            <a:r>
              <a:rPr lang="en-US" dirty="0" err="1"/>
              <a:t>sezoni</a:t>
            </a:r>
            <a:r>
              <a:rPr lang="en-US" dirty="0"/>
              <a:t>, </a:t>
            </a:r>
            <a:r>
              <a:rPr lang="en-US" dirty="0" err="1"/>
              <a:t>gde</a:t>
            </a:r>
            <a:r>
              <a:rPr lang="en-US" dirty="0"/>
              <a:t>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sezonu</a:t>
            </a:r>
            <a:r>
              <a:rPr lang="en-US" dirty="0"/>
              <a:t> </a:t>
            </a:r>
            <a:r>
              <a:rPr lang="en-US" dirty="0" err="1"/>
              <a:t>treba</a:t>
            </a:r>
            <a:r>
              <a:rPr lang="en-US" dirty="0"/>
              <a:t> </a:t>
            </a:r>
            <a:r>
              <a:rPr lang="en-US" dirty="0" err="1"/>
              <a:t>prikazati</a:t>
            </a:r>
            <a:r>
              <a:rPr lang="en-US" dirty="0"/>
              <a:t>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</a:t>
            </a:r>
            <a:r>
              <a:rPr lang="en-US" dirty="0" err="1"/>
              <a:t>izracunati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</a:t>
            </a:r>
            <a:r>
              <a:rPr lang="en-US" dirty="0" err="1"/>
              <a:t>ukupan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koji </a:t>
            </a:r>
            <a:r>
              <a:rPr lang="en-US" dirty="0" err="1"/>
              <a:t>nisu</a:t>
            </a:r>
            <a:r>
              <a:rPr lang="en-US" dirty="0"/>
              <a:t> </a:t>
            </a:r>
            <a:r>
              <a:rPr lang="en-US" dirty="0" err="1"/>
              <a:t>prodati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udeo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proizvodau</a:t>
            </a:r>
            <a:r>
              <a:rPr lang="en-US" dirty="0"/>
              <a:t>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celokupnu</a:t>
            </a:r>
            <a:r>
              <a:rPr lang="en-US" dirty="0"/>
              <a:t> </a:t>
            </a:r>
            <a:r>
              <a:rPr lang="en-US" dirty="0" err="1"/>
              <a:t>ponudu</a:t>
            </a:r>
            <a:r>
              <a:rPr lang="en-US" dirty="0"/>
              <a:t> po </a:t>
            </a:r>
            <a:r>
              <a:rPr lang="en-US" dirty="0" err="1"/>
              <a:t>sezoni</a:t>
            </a:r>
            <a:r>
              <a:rPr lang="en-US" dirty="0"/>
              <a:t>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sezonu</a:t>
            </a:r>
            <a:r>
              <a:rPr lang="en-US" dirty="0"/>
              <a:t>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koja</a:t>
            </a:r>
            <a:r>
              <a:rPr lang="en-US" dirty="0"/>
              <a:t> se </a:t>
            </a:r>
            <a:r>
              <a:rPr lang="en-US" dirty="0" err="1"/>
              <a:t>najmanje</a:t>
            </a:r>
            <a:r>
              <a:rPr lang="en-US" dirty="0"/>
              <a:t> </a:t>
            </a:r>
            <a:r>
              <a:rPr lang="en-US" dirty="0" err="1"/>
              <a:t>prodala</a:t>
            </a:r>
            <a:r>
              <a:rPr lang="en-US" dirty="0"/>
              <a:t>, a </a:t>
            </a:r>
            <a:r>
              <a:rPr lang="en-US" dirty="0" err="1"/>
              <a:t>sve</a:t>
            </a:r>
            <a:r>
              <a:rPr lang="en-US" dirty="0"/>
              <a:t> </a:t>
            </a:r>
            <a:r>
              <a:rPr lang="en-US" dirty="0" err="1"/>
              <a:t>rezultate</a:t>
            </a:r>
            <a:r>
              <a:rPr lang="en-US" dirty="0"/>
              <a:t> </a:t>
            </a:r>
            <a:r>
              <a:rPr lang="en-US" dirty="0" err="1"/>
              <a:t>sortirati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udelu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, u </a:t>
            </a:r>
            <a:r>
              <a:rPr lang="en-US" dirty="0" err="1"/>
              <a:t>opadajucem</a:t>
            </a:r>
            <a:r>
              <a:rPr lang="en-US" dirty="0"/>
              <a:t> </a:t>
            </a:r>
            <a:r>
              <a:rPr lang="en-US" dirty="0" err="1"/>
              <a:t>redosledu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F20326-492C-3395-1285-DDD88B2EBE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139" y="2244837"/>
            <a:ext cx="5608806" cy="42904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0CFD8E-33DF-7E12-3B5B-591E325B81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1" y="2244837"/>
            <a:ext cx="5792568" cy="348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4322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219588" y="683949"/>
            <a:ext cx="97361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4. </a:t>
            </a:r>
            <a:r>
              <a:rPr lang="en-US" dirty="0" err="1"/>
              <a:t>Grupisati</a:t>
            </a:r>
            <a:r>
              <a:rPr lang="en-US" dirty="0"/>
              <a:t> </a:t>
            </a:r>
            <a:r>
              <a:rPr lang="en-US" dirty="0" err="1"/>
              <a:t>proizvode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stanju</a:t>
            </a:r>
            <a:r>
              <a:rPr lang="en-US" dirty="0"/>
              <a:t> u </a:t>
            </a:r>
            <a:r>
              <a:rPr lang="en-US" dirty="0" err="1"/>
              <a:t>kom</a:t>
            </a:r>
            <a:r>
              <a:rPr lang="en-US" dirty="0"/>
              <a:t> se </a:t>
            </a:r>
            <a:r>
              <a:rPr lang="en-US" dirty="0" err="1"/>
              <a:t>nalaze</a:t>
            </a:r>
            <a:r>
              <a:rPr lang="en-US" dirty="0"/>
              <a:t>. U </a:t>
            </a:r>
            <a:r>
              <a:rPr lang="en-US" dirty="0" err="1"/>
              <a:t>obzir</a:t>
            </a:r>
            <a:r>
              <a:rPr lang="en-US" dirty="0"/>
              <a:t> </a:t>
            </a:r>
            <a:r>
              <a:rPr lang="en-US" dirty="0" err="1"/>
              <a:t>uzeti</a:t>
            </a:r>
            <a:r>
              <a:rPr lang="en-US" dirty="0"/>
              <a:t> </a:t>
            </a:r>
            <a:r>
              <a:rPr lang="en-US" dirty="0" err="1"/>
              <a:t>samo</a:t>
            </a:r>
            <a:r>
              <a:rPr lang="en-US" dirty="0"/>
              <a:t> one </a:t>
            </a:r>
            <a:r>
              <a:rPr lang="en-US" dirty="0" err="1"/>
              <a:t>proizvode</a:t>
            </a:r>
            <a:r>
              <a:rPr lang="en-US" dirty="0"/>
              <a:t> koji </a:t>
            </a:r>
            <a:r>
              <a:rPr lang="en-US" dirty="0" err="1"/>
              <a:t>imaju</a:t>
            </a:r>
            <a:r>
              <a:rPr lang="en-US" dirty="0"/>
              <a:t> vise </a:t>
            </a:r>
            <a:r>
              <a:rPr lang="en-US" dirty="0" err="1"/>
              <a:t>lajkova</a:t>
            </a:r>
            <a:r>
              <a:rPr lang="en-US" dirty="0"/>
              <a:t> </a:t>
            </a:r>
            <a:r>
              <a:rPr lang="en-US" dirty="0" err="1"/>
              <a:t>odprosecnog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</a:t>
            </a:r>
            <a:r>
              <a:rPr lang="en-US" dirty="0" err="1"/>
              <a:t>lajkova</a:t>
            </a:r>
            <a:r>
              <a:rPr lang="en-US" dirty="0"/>
              <a:t> </a:t>
            </a:r>
            <a:r>
              <a:rPr lang="en-US" dirty="0" err="1"/>
              <a:t>svih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. Za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u </a:t>
            </a:r>
            <a:r>
              <a:rPr lang="en-US" dirty="0" err="1"/>
              <a:t>kom</a:t>
            </a:r>
            <a:r>
              <a:rPr lang="en-US" dirty="0"/>
              <a:t> se </a:t>
            </a:r>
            <a:r>
              <a:rPr lang="en-US" dirty="0" err="1"/>
              <a:t>ovi</a:t>
            </a:r>
            <a:r>
              <a:rPr lang="en-US" dirty="0"/>
              <a:t> </a:t>
            </a:r>
            <a:r>
              <a:rPr lang="en-US" dirty="0" err="1"/>
              <a:t>proizvodi</a:t>
            </a:r>
            <a:r>
              <a:rPr lang="en-US" dirty="0"/>
              <a:t> </a:t>
            </a:r>
            <a:r>
              <a:rPr lang="en-US" dirty="0" err="1"/>
              <a:t>nalaze</a:t>
            </a:r>
            <a:r>
              <a:rPr lang="en-US" dirty="0"/>
              <a:t>, </a:t>
            </a:r>
            <a:r>
              <a:rPr lang="en-US" dirty="0" err="1"/>
              <a:t>ispisati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ih</a:t>
            </a:r>
            <a:r>
              <a:rPr lang="en-US" dirty="0"/>
              <a:t> je,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kljucne</a:t>
            </a:r>
            <a:r>
              <a:rPr lang="en-US" dirty="0"/>
              <a:t> </a:t>
            </a:r>
            <a:r>
              <a:rPr lang="en-US" dirty="0" err="1"/>
              <a:t>reci</a:t>
            </a:r>
            <a:r>
              <a:rPr lang="en-US" dirty="0"/>
              <a:t> </a:t>
            </a:r>
            <a:r>
              <a:rPr lang="en-US" dirty="0" err="1"/>
              <a:t>najcesce</a:t>
            </a:r>
            <a:r>
              <a:rPr lang="en-US" dirty="0"/>
              <a:t> </a:t>
            </a:r>
            <a:r>
              <a:rPr lang="en-US" dirty="0" err="1"/>
              <a:t>pojavljuju</a:t>
            </a:r>
            <a:r>
              <a:rPr lang="en-US" dirty="0"/>
              <a:t> u </a:t>
            </a:r>
            <a:r>
              <a:rPr lang="en-US" dirty="0" err="1"/>
              <a:t>tim</a:t>
            </a:r>
            <a:r>
              <a:rPr lang="en-US" dirty="0"/>
              <a:t> </a:t>
            </a:r>
            <a:r>
              <a:rPr lang="en-US" dirty="0" err="1"/>
              <a:t>proizvodima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od </a:t>
            </a:r>
            <a:r>
              <a:rPr lang="en-US" dirty="0" err="1"/>
              <a:t>kog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 je </a:t>
            </a:r>
            <a:r>
              <a:rPr lang="en-US" dirty="0" err="1"/>
              <a:t>najvise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te</a:t>
            </a:r>
            <a:r>
              <a:rPr lang="en-US" dirty="0"/>
              <a:t> </a:t>
            </a:r>
            <a:r>
              <a:rPr lang="en-US" dirty="0" err="1"/>
              <a:t>grupe</a:t>
            </a:r>
            <a:r>
              <a:rPr lang="en-US" dirty="0"/>
              <a:t> </a:t>
            </a:r>
            <a:r>
              <a:rPr lang="en-US" dirty="0" err="1"/>
              <a:t>napravljeno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4762C65-EA4E-425E-419C-9BEA6F2028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25" y="2144449"/>
            <a:ext cx="5563082" cy="44352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3DD38CA-288E-4B4F-D0CB-3DBF8E51D5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42" y="2144450"/>
            <a:ext cx="4576115" cy="26141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E56725-49BF-6097-CA1F-4A1E384ADE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743" y="4870581"/>
            <a:ext cx="3251168" cy="1709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1728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191597" y="581312"/>
            <a:ext cx="101933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parove</a:t>
            </a:r>
            <a:r>
              <a:rPr lang="en-US" dirty="0"/>
              <a:t>: </a:t>
            </a:r>
            <a:r>
              <a:rPr lang="en-US" dirty="0" err="1"/>
              <a:t>najjeftinije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zenske</a:t>
            </a:r>
            <a:r>
              <a:rPr lang="en-US" dirty="0"/>
              <a:t> </a:t>
            </a:r>
            <a:r>
              <a:rPr lang="en-US" dirty="0" err="1"/>
              <a:t>cipele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najjeftinija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zenska</a:t>
            </a:r>
            <a:r>
              <a:rPr lang="en-US" dirty="0"/>
              <a:t> </a:t>
            </a:r>
            <a:r>
              <a:rPr lang="en-US" dirty="0" err="1"/>
              <a:t>haljina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i: </a:t>
            </a:r>
            <a:r>
              <a:rPr lang="en-US" dirty="0" err="1"/>
              <a:t>najskuplje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zenske</a:t>
            </a:r>
            <a:r>
              <a:rPr lang="en-US" dirty="0"/>
              <a:t> </a:t>
            </a:r>
            <a:r>
              <a:rPr lang="en-US" dirty="0" err="1"/>
              <a:t>cipele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najskuplja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zenska</a:t>
            </a:r>
            <a:r>
              <a:rPr lang="en-US" dirty="0"/>
              <a:t> </a:t>
            </a:r>
            <a:r>
              <a:rPr lang="en-US" dirty="0" err="1"/>
              <a:t>haljina</a:t>
            </a:r>
            <a:r>
              <a:rPr lang="en-US" dirty="0"/>
              <a:t>, a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izlistati</a:t>
            </a:r>
            <a:r>
              <a:rPr lang="en-US" dirty="0"/>
              <a:t> 10 </a:t>
            </a:r>
            <a:r>
              <a:rPr lang="en-US" dirty="0" err="1"/>
              <a:t>proizvoda</a:t>
            </a:r>
            <a:r>
              <a:rPr lang="en-US" dirty="0"/>
              <a:t> koji se po </a:t>
            </a:r>
            <a:r>
              <a:rPr lang="en-US" dirty="0" err="1"/>
              <a:t>ceni</a:t>
            </a:r>
            <a:r>
              <a:rPr lang="en-US" dirty="0"/>
              <a:t> </a:t>
            </a:r>
            <a:r>
              <a:rPr lang="en-US" dirty="0" err="1"/>
              <a:t>uklapaju</a:t>
            </a:r>
            <a:r>
              <a:rPr lang="en-US" dirty="0"/>
              <a:t> u </a:t>
            </a:r>
            <a:r>
              <a:rPr lang="en-US" dirty="0" err="1"/>
              <a:t>cenovni</a:t>
            </a:r>
            <a:r>
              <a:rPr lang="en-US" dirty="0"/>
              <a:t> </a:t>
            </a:r>
            <a:r>
              <a:rPr lang="en-US" dirty="0" err="1"/>
              <a:t>rangizmedju</a:t>
            </a:r>
            <a:r>
              <a:rPr lang="en-US" dirty="0"/>
              <a:t> </a:t>
            </a:r>
            <a:r>
              <a:rPr lang="en-US" dirty="0" err="1"/>
              <a:t>zbira</a:t>
            </a:r>
            <a:r>
              <a:rPr lang="en-US" dirty="0"/>
              <a:t> </a:t>
            </a:r>
            <a:r>
              <a:rPr lang="en-US" dirty="0" err="1"/>
              <a:t>cena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najjeftinijeg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najskupljeg</a:t>
            </a:r>
            <a:r>
              <a:rPr lang="en-US" dirty="0"/>
              <a:t> para,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proizvodi</a:t>
            </a:r>
            <a:r>
              <a:rPr lang="en-US" dirty="0"/>
              <a:t>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boje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 </a:t>
            </a:r>
            <a:r>
              <a:rPr lang="en-US" dirty="0" err="1"/>
              <a:t>istog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materijal</a:t>
            </a:r>
            <a:r>
              <a:rPr lang="en-US" dirty="0"/>
              <a:t> </a:t>
            </a:r>
            <a:r>
              <a:rPr lang="en-US" dirty="0" err="1"/>
              <a:t>najskuplje</a:t>
            </a:r>
            <a:r>
              <a:rPr lang="en-US" dirty="0"/>
              <a:t> </a:t>
            </a:r>
            <a:r>
              <a:rPr lang="en-US" dirty="0" err="1"/>
              <a:t>haljine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C11EF-5E9E-5852-8C43-258CB9473F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44" y="2151946"/>
            <a:ext cx="3934707" cy="44164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4C79AD-3F47-B4A3-F219-C070820677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6254" y="2151946"/>
            <a:ext cx="3442997" cy="441649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2C5E7DD-5252-4211-9DA4-3AF8218B268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83721" y="2151947"/>
            <a:ext cx="3760235" cy="441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3786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191597" y="581312"/>
            <a:ext cx="101933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parove</a:t>
            </a:r>
            <a:r>
              <a:rPr lang="en-US" dirty="0"/>
              <a:t>: </a:t>
            </a:r>
            <a:r>
              <a:rPr lang="en-US" dirty="0" err="1"/>
              <a:t>najjeftinije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zenske</a:t>
            </a:r>
            <a:r>
              <a:rPr lang="en-US" dirty="0"/>
              <a:t> </a:t>
            </a:r>
            <a:r>
              <a:rPr lang="en-US" dirty="0" err="1"/>
              <a:t>cipele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najjeftinija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zenska</a:t>
            </a:r>
            <a:r>
              <a:rPr lang="en-US" dirty="0"/>
              <a:t> </a:t>
            </a:r>
            <a:r>
              <a:rPr lang="en-US" dirty="0" err="1"/>
              <a:t>haljina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i: </a:t>
            </a:r>
            <a:r>
              <a:rPr lang="en-US" dirty="0" err="1"/>
              <a:t>najskuplje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zenske</a:t>
            </a:r>
            <a:r>
              <a:rPr lang="en-US" dirty="0"/>
              <a:t> </a:t>
            </a:r>
            <a:r>
              <a:rPr lang="en-US" dirty="0" err="1"/>
              <a:t>cipele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najskuplja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zenska</a:t>
            </a:r>
            <a:r>
              <a:rPr lang="en-US" dirty="0"/>
              <a:t> </a:t>
            </a:r>
            <a:r>
              <a:rPr lang="en-US" dirty="0" err="1"/>
              <a:t>haljina</a:t>
            </a:r>
            <a:r>
              <a:rPr lang="en-US" dirty="0"/>
              <a:t>, a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izlistati</a:t>
            </a:r>
            <a:r>
              <a:rPr lang="en-US" dirty="0"/>
              <a:t> 10 </a:t>
            </a:r>
            <a:r>
              <a:rPr lang="en-US" dirty="0" err="1"/>
              <a:t>proizvoda</a:t>
            </a:r>
            <a:r>
              <a:rPr lang="en-US" dirty="0"/>
              <a:t> koji se po </a:t>
            </a:r>
            <a:r>
              <a:rPr lang="en-US" dirty="0" err="1"/>
              <a:t>ceni</a:t>
            </a:r>
            <a:r>
              <a:rPr lang="en-US" dirty="0"/>
              <a:t> </a:t>
            </a:r>
            <a:r>
              <a:rPr lang="en-US" dirty="0" err="1"/>
              <a:t>uklapaju</a:t>
            </a:r>
            <a:r>
              <a:rPr lang="en-US" dirty="0"/>
              <a:t> u </a:t>
            </a:r>
            <a:r>
              <a:rPr lang="en-US" dirty="0" err="1"/>
              <a:t>cenovni</a:t>
            </a:r>
            <a:r>
              <a:rPr lang="en-US" dirty="0"/>
              <a:t> </a:t>
            </a:r>
            <a:r>
              <a:rPr lang="en-US" dirty="0" err="1"/>
              <a:t>rangizmedju</a:t>
            </a:r>
            <a:r>
              <a:rPr lang="en-US" dirty="0"/>
              <a:t> </a:t>
            </a:r>
            <a:r>
              <a:rPr lang="en-US" dirty="0" err="1"/>
              <a:t>zbira</a:t>
            </a:r>
            <a:r>
              <a:rPr lang="en-US" dirty="0"/>
              <a:t> </a:t>
            </a:r>
            <a:r>
              <a:rPr lang="en-US" dirty="0" err="1"/>
              <a:t>cena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najjeftinijeg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najskupljeg</a:t>
            </a:r>
            <a:r>
              <a:rPr lang="en-US" dirty="0"/>
              <a:t> para,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proizvodi</a:t>
            </a:r>
            <a:r>
              <a:rPr lang="en-US" dirty="0"/>
              <a:t>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boje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 </a:t>
            </a:r>
            <a:r>
              <a:rPr lang="en-US" dirty="0" err="1"/>
              <a:t>istog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materijal</a:t>
            </a:r>
            <a:r>
              <a:rPr lang="en-US" dirty="0"/>
              <a:t> </a:t>
            </a:r>
            <a:r>
              <a:rPr lang="en-US" dirty="0" err="1"/>
              <a:t>najskuplje</a:t>
            </a:r>
            <a:r>
              <a:rPr lang="en-US" dirty="0"/>
              <a:t> </a:t>
            </a:r>
            <a:r>
              <a:rPr lang="en-US" dirty="0" err="1"/>
              <a:t>haljine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6F616C-6FC4-9BB3-8F20-4AA1531CF3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249" y="2151946"/>
            <a:ext cx="4124131" cy="441236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ED8ACB-0A7D-BCA7-09CA-05A1982397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819" y="2151946"/>
            <a:ext cx="7125317" cy="441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7978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48424DD-1684-5634-5FA8-6F94C38C392A}"/>
              </a:ext>
            </a:extLst>
          </p:cNvPr>
          <p:cNvSpPr txBox="1"/>
          <p:nvPr/>
        </p:nvSpPr>
        <p:spPr>
          <a:xfrm>
            <a:off x="191597" y="581312"/>
            <a:ext cx="1019337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</a:t>
            </a:r>
            <a:r>
              <a:rPr lang="en-US" dirty="0" err="1"/>
              <a:t>Pronaci</a:t>
            </a:r>
            <a:r>
              <a:rPr lang="en-US" dirty="0"/>
              <a:t> </a:t>
            </a:r>
            <a:r>
              <a:rPr lang="en-US" dirty="0" err="1"/>
              <a:t>parove</a:t>
            </a:r>
            <a:r>
              <a:rPr lang="en-US" dirty="0"/>
              <a:t>: </a:t>
            </a:r>
            <a:r>
              <a:rPr lang="en-US" dirty="0" err="1"/>
              <a:t>najjeftinije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zenske</a:t>
            </a:r>
            <a:r>
              <a:rPr lang="en-US" dirty="0"/>
              <a:t> </a:t>
            </a:r>
            <a:r>
              <a:rPr lang="en-US" dirty="0" err="1"/>
              <a:t>cipele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najjeftinija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zenska</a:t>
            </a:r>
            <a:r>
              <a:rPr lang="en-US" dirty="0"/>
              <a:t> </a:t>
            </a:r>
            <a:r>
              <a:rPr lang="en-US" dirty="0" err="1"/>
              <a:t>haljina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i: </a:t>
            </a:r>
            <a:r>
              <a:rPr lang="en-US" dirty="0" err="1"/>
              <a:t>najskuplje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zenske</a:t>
            </a:r>
            <a:r>
              <a:rPr lang="en-US" dirty="0"/>
              <a:t> </a:t>
            </a:r>
            <a:r>
              <a:rPr lang="en-US" dirty="0" err="1"/>
              <a:t>cipele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najskuplja</a:t>
            </a:r>
            <a:r>
              <a:rPr lang="en-US" dirty="0"/>
              <a:t> </a:t>
            </a:r>
            <a:r>
              <a:rPr lang="en-US" dirty="0" err="1"/>
              <a:t>crna</a:t>
            </a:r>
            <a:r>
              <a:rPr lang="en-US" dirty="0"/>
              <a:t> </a:t>
            </a:r>
            <a:r>
              <a:rPr lang="en-US" dirty="0" err="1"/>
              <a:t>zenska</a:t>
            </a:r>
            <a:r>
              <a:rPr lang="en-US" dirty="0"/>
              <a:t> </a:t>
            </a:r>
            <a:r>
              <a:rPr lang="en-US" dirty="0" err="1"/>
              <a:t>haljina</a:t>
            </a:r>
            <a:r>
              <a:rPr lang="en-US" dirty="0"/>
              <a:t>, a </a:t>
            </a:r>
            <a:r>
              <a:rPr lang="en-US" dirty="0" err="1"/>
              <a:t>zatim</a:t>
            </a:r>
            <a:r>
              <a:rPr lang="en-US" dirty="0"/>
              <a:t> </a:t>
            </a:r>
            <a:r>
              <a:rPr lang="en-US" dirty="0" err="1"/>
              <a:t>izlistati</a:t>
            </a:r>
            <a:r>
              <a:rPr lang="en-US" dirty="0"/>
              <a:t> 10 </a:t>
            </a:r>
            <a:r>
              <a:rPr lang="en-US" dirty="0" err="1"/>
              <a:t>proizvoda</a:t>
            </a:r>
            <a:r>
              <a:rPr lang="en-US" dirty="0"/>
              <a:t> koji se po </a:t>
            </a:r>
            <a:r>
              <a:rPr lang="en-US" dirty="0" err="1"/>
              <a:t>ceni</a:t>
            </a:r>
            <a:r>
              <a:rPr lang="en-US" dirty="0"/>
              <a:t> </a:t>
            </a:r>
            <a:r>
              <a:rPr lang="en-US" dirty="0" err="1"/>
              <a:t>uklapaju</a:t>
            </a:r>
            <a:r>
              <a:rPr lang="en-US" dirty="0"/>
              <a:t> u </a:t>
            </a:r>
            <a:r>
              <a:rPr lang="en-US" dirty="0" err="1"/>
              <a:t>cenovni</a:t>
            </a:r>
            <a:r>
              <a:rPr lang="en-US" dirty="0"/>
              <a:t> </a:t>
            </a:r>
            <a:r>
              <a:rPr lang="en-US" dirty="0" err="1"/>
              <a:t>rangizmedju</a:t>
            </a:r>
            <a:r>
              <a:rPr lang="en-US" dirty="0"/>
              <a:t> </a:t>
            </a:r>
            <a:r>
              <a:rPr lang="en-US" dirty="0" err="1"/>
              <a:t>zbira</a:t>
            </a:r>
            <a:r>
              <a:rPr lang="en-US" dirty="0"/>
              <a:t> </a:t>
            </a:r>
            <a:r>
              <a:rPr lang="en-US" dirty="0" err="1"/>
              <a:t>cena</a:t>
            </a:r>
            <a:r>
              <a:rPr lang="en-US" dirty="0"/>
              <a:t> </a:t>
            </a:r>
            <a:r>
              <a:rPr lang="en-US" dirty="0" err="1"/>
              <a:t>prvog</a:t>
            </a:r>
            <a:r>
              <a:rPr lang="en-US" dirty="0"/>
              <a:t> </a:t>
            </a:r>
            <a:r>
              <a:rPr lang="en-US" dirty="0" err="1"/>
              <a:t>najjeftinijeg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drugog</a:t>
            </a:r>
            <a:r>
              <a:rPr lang="en-US" dirty="0"/>
              <a:t> </a:t>
            </a:r>
            <a:r>
              <a:rPr lang="en-US" dirty="0" err="1"/>
              <a:t>najskupljeg</a:t>
            </a:r>
            <a:r>
              <a:rPr lang="en-US" dirty="0"/>
              <a:t> para, </a:t>
            </a:r>
            <a:r>
              <a:rPr lang="en-US" dirty="0" err="1"/>
              <a:t>tako</a:t>
            </a:r>
            <a:r>
              <a:rPr lang="en-US" dirty="0"/>
              <a:t> da </a:t>
            </a:r>
            <a:r>
              <a:rPr lang="en-US" dirty="0" err="1"/>
              <a:t>ti</a:t>
            </a:r>
            <a:r>
              <a:rPr lang="en-US" dirty="0"/>
              <a:t> </a:t>
            </a:r>
            <a:r>
              <a:rPr lang="en-US" dirty="0" err="1"/>
              <a:t>proizvodi</a:t>
            </a:r>
            <a:r>
              <a:rPr lang="en-US" dirty="0"/>
              <a:t> </a:t>
            </a:r>
            <a:r>
              <a:rPr lang="en-US" dirty="0" err="1"/>
              <a:t>budu</a:t>
            </a:r>
            <a:r>
              <a:rPr lang="en-US" dirty="0"/>
              <a:t> </a:t>
            </a:r>
            <a:r>
              <a:rPr lang="en-US" dirty="0" err="1"/>
              <a:t>takodje</a:t>
            </a:r>
            <a:r>
              <a:rPr lang="en-US" dirty="0"/>
              <a:t> </a:t>
            </a:r>
            <a:r>
              <a:rPr lang="en-US" dirty="0" err="1"/>
              <a:t>crne</a:t>
            </a:r>
            <a:r>
              <a:rPr lang="en-US" dirty="0"/>
              <a:t> </a:t>
            </a:r>
            <a:r>
              <a:rPr lang="en-US" dirty="0" err="1"/>
              <a:t>boje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 </a:t>
            </a:r>
            <a:r>
              <a:rPr lang="en-US" dirty="0" err="1"/>
              <a:t>istog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materijal</a:t>
            </a:r>
            <a:r>
              <a:rPr lang="en-US" dirty="0"/>
              <a:t> </a:t>
            </a:r>
            <a:r>
              <a:rPr lang="en-US" dirty="0" err="1"/>
              <a:t>najskuplje</a:t>
            </a:r>
            <a:r>
              <a:rPr lang="en-US" dirty="0"/>
              <a:t> </a:t>
            </a:r>
            <a:r>
              <a:rPr lang="en-US" dirty="0" err="1"/>
              <a:t>haljine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2DB1CA-C468-09C5-9693-4F902D4C7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177" y="2161531"/>
            <a:ext cx="5294803" cy="4412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BF57E5-7B02-4FAF-5738-DE7B72F515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61531"/>
            <a:ext cx="3785118" cy="3817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057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449672" y="2238412"/>
            <a:ext cx="423429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1. </a:t>
            </a:r>
            <a:r>
              <a:rPr lang="en-US" dirty="0" err="1"/>
              <a:t>Proizvode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5 </a:t>
            </a:r>
            <a:r>
              <a:rPr lang="en-US" dirty="0" err="1"/>
              <a:t>brendova</a:t>
            </a:r>
            <a:r>
              <a:rPr lang="en-US" dirty="0"/>
              <a:t> </a:t>
            </a:r>
            <a:r>
              <a:rPr lang="sr-Latn-RS" dirty="0"/>
              <a:t>žensk</a:t>
            </a:r>
            <a:r>
              <a:rPr lang="en-US" dirty="0"/>
              <a:t>e </a:t>
            </a:r>
            <a:r>
              <a:rPr lang="en-US" dirty="0" err="1"/>
              <a:t>obu</a:t>
            </a:r>
            <a:r>
              <a:rPr lang="sr-Latn-RS" dirty="0"/>
              <a:t>će </a:t>
            </a:r>
            <a:r>
              <a:rPr lang="en-US" dirty="0"/>
              <a:t>je </a:t>
            </a:r>
            <a:r>
              <a:rPr lang="en-US" dirty="0" err="1"/>
              <a:t>najviše</a:t>
            </a:r>
            <a:r>
              <a:rPr lang="en-US" dirty="0"/>
              <a:t> </a:t>
            </a:r>
            <a:r>
              <a:rPr lang="en-US" dirty="0" err="1"/>
              <a:t>prodavao</a:t>
            </a:r>
            <a:r>
              <a:rPr lang="en-US" dirty="0"/>
              <a:t> </a:t>
            </a:r>
            <a:r>
              <a:rPr lang="en-US" dirty="0" err="1"/>
              <a:t>prodavac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najvećim</a:t>
            </a:r>
            <a:endParaRPr lang="sr-Latn-RS" dirty="0"/>
          </a:p>
          <a:p>
            <a:pPr algn="just"/>
            <a:r>
              <a:rPr lang="sr-Latn-RS" dirty="0"/>
              <a:t>b</a:t>
            </a:r>
            <a:r>
              <a:rPr lang="en-US" dirty="0" err="1"/>
              <a:t>rojem</a:t>
            </a:r>
            <a:r>
              <a:rPr lang="sr-Latn-RS" dirty="0"/>
              <a:t> p</a:t>
            </a:r>
            <a:r>
              <a:rPr lang="en-US" dirty="0" err="1"/>
              <a:t>ratioca</a:t>
            </a:r>
            <a:r>
              <a:rPr lang="sr-Latn-RS" dirty="0"/>
              <a:t> </a:t>
            </a:r>
            <a:r>
              <a:rPr lang="en-US" dirty="0"/>
              <a:t>u </a:t>
            </a:r>
            <a:r>
              <a:rPr lang="en-US" dirty="0" err="1"/>
              <a:t>kategoriji</a:t>
            </a:r>
            <a:r>
              <a:rPr lang="en-US" dirty="0"/>
              <a:t> </a:t>
            </a:r>
            <a:r>
              <a:rPr lang="sr-Latn-RS" dirty="0"/>
              <a:t>ekspert-</a:t>
            </a:r>
            <a:r>
              <a:rPr lang="en-US" dirty="0" err="1"/>
              <a:t>prodavaca</a:t>
            </a:r>
            <a:r>
              <a:rPr lang="en-US" dirty="0"/>
              <a:t>?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8444A-759A-F8D2-8496-62F09B09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 err="1"/>
              <a:t>Agregacije</a:t>
            </a:r>
            <a:r>
              <a:rPr lang="en-US" dirty="0"/>
              <a:t> – Tamara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0A82B0F-320B-D6B4-15D2-3874BEB730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82928" y="2238412"/>
            <a:ext cx="479654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77567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459001" y="1110490"/>
            <a:ext cx="12040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1. </a:t>
            </a:r>
            <a:r>
              <a:rPr lang="en-US" dirty="0" err="1"/>
              <a:t>Proizvode</a:t>
            </a:r>
            <a:r>
              <a:rPr lang="en-US" dirty="0"/>
              <a:t> </a:t>
            </a:r>
            <a:r>
              <a:rPr lang="en-US" dirty="0" err="1"/>
              <a:t>kojih</a:t>
            </a:r>
            <a:r>
              <a:rPr lang="en-US" dirty="0"/>
              <a:t> 5 </a:t>
            </a:r>
            <a:r>
              <a:rPr lang="en-US" dirty="0" err="1"/>
              <a:t>brendova</a:t>
            </a:r>
            <a:r>
              <a:rPr lang="en-US" dirty="0"/>
              <a:t> </a:t>
            </a:r>
            <a:r>
              <a:rPr lang="sr-Latn-RS" dirty="0"/>
              <a:t>žensk</a:t>
            </a:r>
            <a:r>
              <a:rPr lang="en-US" dirty="0"/>
              <a:t>e </a:t>
            </a:r>
            <a:r>
              <a:rPr lang="en-US" dirty="0" err="1"/>
              <a:t>obu</a:t>
            </a:r>
            <a:r>
              <a:rPr lang="sr-Latn-RS" dirty="0"/>
              <a:t>će </a:t>
            </a:r>
            <a:r>
              <a:rPr lang="en-US" dirty="0"/>
              <a:t>je </a:t>
            </a:r>
            <a:r>
              <a:rPr lang="en-US" dirty="0" err="1"/>
              <a:t>najviše</a:t>
            </a:r>
            <a:r>
              <a:rPr lang="en-US" dirty="0"/>
              <a:t> </a:t>
            </a:r>
            <a:r>
              <a:rPr lang="en-US" dirty="0" err="1"/>
              <a:t>prodavao</a:t>
            </a:r>
            <a:r>
              <a:rPr lang="en-US" dirty="0"/>
              <a:t> </a:t>
            </a:r>
            <a:r>
              <a:rPr lang="en-US" dirty="0" err="1"/>
              <a:t>prodavac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najvećim</a:t>
            </a:r>
            <a:endParaRPr lang="sr-Latn-RS" dirty="0"/>
          </a:p>
          <a:p>
            <a:pPr algn="just"/>
            <a:r>
              <a:rPr lang="sr-Latn-RS" dirty="0"/>
              <a:t>b</a:t>
            </a:r>
            <a:r>
              <a:rPr lang="en-US" dirty="0" err="1"/>
              <a:t>rojem</a:t>
            </a:r>
            <a:r>
              <a:rPr lang="sr-Latn-RS" dirty="0"/>
              <a:t> p</a:t>
            </a:r>
            <a:r>
              <a:rPr lang="en-US" dirty="0" err="1"/>
              <a:t>ratioca</a:t>
            </a:r>
            <a:r>
              <a:rPr lang="sr-Latn-RS" dirty="0"/>
              <a:t> </a:t>
            </a:r>
            <a:r>
              <a:rPr lang="en-US" dirty="0"/>
              <a:t>u </a:t>
            </a:r>
            <a:r>
              <a:rPr lang="en-US" dirty="0" err="1"/>
              <a:t>kategoriji</a:t>
            </a:r>
            <a:r>
              <a:rPr lang="en-US" dirty="0"/>
              <a:t> </a:t>
            </a:r>
            <a:r>
              <a:rPr lang="sr-Latn-RS" dirty="0"/>
              <a:t>ekspert-</a:t>
            </a:r>
            <a:r>
              <a:rPr lang="en-US" dirty="0" err="1"/>
              <a:t>prodavaca</a:t>
            </a:r>
            <a:r>
              <a:rPr lang="en-US" dirty="0"/>
              <a:t>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75A27CB-0093-8AE2-2F9C-78A7B2FDC0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7529" y="2219461"/>
            <a:ext cx="6091732" cy="33135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193124-169F-4F7B-C51B-6A0B3CC576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739" y="2219461"/>
            <a:ext cx="5197290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0811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365696" y="961201"/>
            <a:ext cx="971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2. </a:t>
            </a:r>
            <a:r>
              <a:rPr lang="en-US" dirty="0" err="1"/>
              <a:t>Pronaći</a:t>
            </a:r>
            <a:r>
              <a:rPr lang="en-US" dirty="0"/>
              <a:t> top 10 </a:t>
            </a:r>
            <a:r>
              <a:rPr lang="en-US" dirty="0" err="1"/>
              <a:t>brendova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do 1000$, koji </a:t>
            </a:r>
            <a:r>
              <a:rPr lang="en-US" dirty="0" err="1"/>
              <a:t>prodavcima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25+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ili</a:t>
            </a:r>
            <a:r>
              <a:rPr lang="en-US" dirty="0"/>
              <a:t> 50+ </a:t>
            </a:r>
            <a:r>
              <a:rPr lang="en-US" dirty="0" err="1"/>
              <a:t>izlozenih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u </a:t>
            </a:r>
            <a:r>
              <a:rPr lang="en-US" dirty="0" err="1"/>
              <a:t>proseku</a:t>
            </a:r>
            <a:r>
              <a:rPr lang="en-US" dirty="0"/>
              <a:t> </a:t>
            </a:r>
            <a:r>
              <a:rPr lang="en-US" dirty="0" err="1"/>
              <a:t>donose</a:t>
            </a:r>
            <a:r>
              <a:rPr lang="en-US" dirty="0"/>
              <a:t> </a:t>
            </a:r>
            <a:r>
              <a:rPr lang="en-US" dirty="0" err="1"/>
              <a:t>najveću</a:t>
            </a:r>
            <a:r>
              <a:rPr lang="en-US" dirty="0"/>
              <a:t> </a:t>
            </a:r>
            <a:r>
              <a:rPr lang="en-US" dirty="0" err="1"/>
              <a:t>zaradu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BF8FB8-B4E2-B492-BE9C-66ADD7C1BB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6" y="2238413"/>
            <a:ext cx="5631474" cy="41717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EAA0BF7-EB0A-A57C-64D5-FDE2285FA6A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090" y="2238413"/>
            <a:ext cx="4922947" cy="153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50856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35DE924-464F-A6FA-012B-CF25C2F1EA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5632" y="2219752"/>
            <a:ext cx="5842271" cy="427486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87FF7EC-89EE-42B5-7BF7-4B54E672DA39}"/>
              </a:ext>
            </a:extLst>
          </p:cNvPr>
          <p:cNvSpPr txBox="1"/>
          <p:nvPr/>
        </p:nvSpPr>
        <p:spPr>
          <a:xfrm>
            <a:off x="365696" y="849234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3.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prodavaca</a:t>
            </a:r>
            <a:r>
              <a:rPr lang="en-US" dirty="0"/>
              <a:t> (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bedžu</a:t>
            </a:r>
            <a:r>
              <a:rPr lang="en-US" dirty="0"/>
              <a:t>)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iznosi</a:t>
            </a:r>
            <a:r>
              <a:rPr lang="en-US" dirty="0"/>
              <a:t> </a:t>
            </a:r>
            <a:r>
              <a:rPr lang="en-US" dirty="0" err="1"/>
              <a:t>minimalna</a:t>
            </a:r>
            <a:r>
              <a:rPr lang="en-US" dirty="0"/>
              <a:t>,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prosečna</a:t>
            </a:r>
            <a:r>
              <a:rPr lang="en-US" dirty="0"/>
              <a:t> </a:t>
            </a:r>
            <a:r>
              <a:rPr lang="en-US" dirty="0" err="1"/>
              <a:t>zarada</a:t>
            </a:r>
            <a:r>
              <a:rPr lang="en-US" dirty="0"/>
              <a:t> po </a:t>
            </a:r>
            <a:r>
              <a:rPr lang="en-US" dirty="0" err="1"/>
              <a:t>proizvodu</a:t>
            </a:r>
            <a:r>
              <a:rPr lang="en-US" dirty="0"/>
              <a:t>. </a:t>
            </a:r>
            <a:r>
              <a:rPr lang="en-US" dirty="0" err="1"/>
              <a:t>Takodje</a:t>
            </a:r>
            <a:r>
              <a:rPr lang="en-US" dirty="0"/>
              <a:t>,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pronaci</a:t>
            </a:r>
            <a:r>
              <a:rPr lang="en-US" dirty="0"/>
              <a:t> top 3 </a:t>
            </a:r>
            <a:r>
              <a:rPr lang="en-US" dirty="0" err="1"/>
              <a:t>prodavca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najvecim</a:t>
            </a:r>
            <a:r>
              <a:rPr lang="en-US" dirty="0"/>
              <a:t> </a:t>
            </a:r>
            <a:r>
              <a:rPr lang="en-US" dirty="0" err="1"/>
              <a:t>ukupnim</a:t>
            </a:r>
            <a:r>
              <a:rPr lang="en-US" dirty="0"/>
              <a:t> </a:t>
            </a:r>
            <a:r>
              <a:rPr lang="en-US" dirty="0" err="1"/>
              <a:t>brojem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5769295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365696" y="849234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3.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prodavaca</a:t>
            </a:r>
            <a:r>
              <a:rPr lang="en-US" dirty="0"/>
              <a:t> (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bedžu</a:t>
            </a:r>
            <a:r>
              <a:rPr lang="en-US" dirty="0"/>
              <a:t>)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koliko</a:t>
            </a:r>
            <a:r>
              <a:rPr lang="en-US" dirty="0"/>
              <a:t> </a:t>
            </a:r>
            <a:r>
              <a:rPr lang="en-US" dirty="0" err="1"/>
              <a:t>iznosi</a:t>
            </a:r>
            <a:r>
              <a:rPr lang="en-US" dirty="0"/>
              <a:t> </a:t>
            </a:r>
            <a:r>
              <a:rPr lang="en-US" dirty="0" err="1"/>
              <a:t>minimalna</a:t>
            </a:r>
            <a:r>
              <a:rPr lang="en-US" dirty="0"/>
              <a:t>, </a:t>
            </a:r>
            <a:r>
              <a:rPr lang="en-US" dirty="0" err="1"/>
              <a:t>maksimalna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prosečna</a:t>
            </a:r>
            <a:r>
              <a:rPr lang="en-US" dirty="0"/>
              <a:t> </a:t>
            </a:r>
            <a:r>
              <a:rPr lang="en-US" dirty="0" err="1"/>
              <a:t>zarada</a:t>
            </a:r>
            <a:r>
              <a:rPr lang="en-US" dirty="0"/>
              <a:t> po </a:t>
            </a:r>
            <a:r>
              <a:rPr lang="en-US" dirty="0" err="1"/>
              <a:t>proizvodu</a:t>
            </a:r>
            <a:r>
              <a:rPr lang="en-US" dirty="0"/>
              <a:t>. </a:t>
            </a:r>
            <a:r>
              <a:rPr lang="en-US" dirty="0" err="1"/>
              <a:t>Takodje</a:t>
            </a:r>
            <a:r>
              <a:rPr lang="en-US" dirty="0"/>
              <a:t>,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kategoriju</a:t>
            </a:r>
            <a:r>
              <a:rPr lang="en-US" dirty="0"/>
              <a:t> </a:t>
            </a:r>
            <a:r>
              <a:rPr lang="en-US" dirty="0" err="1"/>
              <a:t>pronaci</a:t>
            </a:r>
            <a:r>
              <a:rPr lang="en-US" dirty="0"/>
              <a:t> top 3 </a:t>
            </a:r>
            <a:r>
              <a:rPr lang="en-US" dirty="0" err="1"/>
              <a:t>prodavca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najvecim</a:t>
            </a:r>
            <a:r>
              <a:rPr lang="en-US" dirty="0"/>
              <a:t> </a:t>
            </a:r>
            <a:r>
              <a:rPr lang="en-US" dirty="0" err="1"/>
              <a:t>ukupnim</a:t>
            </a:r>
            <a:r>
              <a:rPr lang="en-US" dirty="0"/>
              <a:t> </a:t>
            </a:r>
            <a:r>
              <a:rPr lang="en-US" dirty="0" err="1"/>
              <a:t>brojem</a:t>
            </a:r>
            <a:r>
              <a:rPr lang="en-US" dirty="0"/>
              <a:t> </a:t>
            </a:r>
            <a:r>
              <a:rPr lang="en-US" dirty="0" err="1"/>
              <a:t>prodatih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364E5B-E7B7-C709-AD92-C1EBBC9EA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6" y="2238413"/>
            <a:ext cx="5730304" cy="437389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E99B41-44E3-250F-EE03-3C838819A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468" y="2270660"/>
            <a:ext cx="4496356" cy="1353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876333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365696" y="839903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4.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drzavu</a:t>
            </a:r>
            <a:r>
              <a:rPr lang="en-US" dirty="0"/>
              <a:t> </a:t>
            </a:r>
            <a:r>
              <a:rPr lang="en-US" dirty="0" err="1"/>
              <a:t>prikazati</a:t>
            </a:r>
            <a:r>
              <a:rPr lang="en-US" dirty="0"/>
              <a:t> rang </a:t>
            </a:r>
            <a:r>
              <a:rPr lang="en-US" dirty="0" err="1"/>
              <a:t>listu</a:t>
            </a:r>
            <a:r>
              <a:rPr lang="en-US" dirty="0"/>
              <a:t> </a:t>
            </a:r>
            <a:r>
              <a:rPr lang="en-US" dirty="0" err="1"/>
              <a:t>prodavaca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ukupnoj</a:t>
            </a:r>
            <a:r>
              <a:rPr lang="en-US" dirty="0"/>
              <a:t> </a:t>
            </a:r>
            <a:r>
              <a:rPr lang="en-US" dirty="0" err="1"/>
              <a:t>zaradi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proizvodima</a:t>
            </a:r>
            <a:r>
              <a:rPr lang="en-US" dirty="0"/>
              <a:t>. </a:t>
            </a:r>
            <a:r>
              <a:rPr lang="en-US" dirty="0" err="1"/>
              <a:t>Takodje</a:t>
            </a:r>
            <a:r>
              <a:rPr lang="en-US" dirty="0"/>
              <a:t>, za </a:t>
            </a:r>
            <a:r>
              <a:rPr lang="en-US" dirty="0" err="1"/>
              <a:t>svakog</a:t>
            </a:r>
            <a:r>
              <a:rPr lang="en-US" dirty="0"/>
              <a:t> </a:t>
            </a:r>
            <a:r>
              <a:rPr lang="en-US" dirty="0" err="1"/>
              <a:t>prodavca</a:t>
            </a:r>
            <a:r>
              <a:rPr lang="en-US" dirty="0"/>
              <a:t>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prosecan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lajkova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proizvodima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procenat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pratioca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292BEB-EE06-BEEE-56DC-EF9DA57E5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6" y="2148797"/>
            <a:ext cx="5646909" cy="455715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097BD6-FEAA-0410-9AA6-EBE750244D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9397" y="2148797"/>
            <a:ext cx="5441152" cy="4557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604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365696" y="839903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4. Za </a:t>
            </a:r>
            <a:r>
              <a:rPr lang="en-US" dirty="0" err="1"/>
              <a:t>svaku</a:t>
            </a:r>
            <a:r>
              <a:rPr lang="en-US" dirty="0"/>
              <a:t> </a:t>
            </a:r>
            <a:r>
              <a:rPr lang="en-US" dirty="0" err="1"/>
              <a:t>drzavu</a:t>
            </a:r>
            <a:r>
              <a:rPr lang="en-US" dirty="0"/>
              <a:t> </a:t>
            </a:r>
            <a:r>
              <a:rPr lang="en-US" dirty="0" err="1"/>
              <a:t>prikazati</a:t>
            </a:r>
            <a:r>
              <a:rPr lang="en-US" dirty="0"/>
              <a:t> rang </a:t>
            </a:r>
            <a:r>
              <a:rPr lang="en-US" dirty="0" err="1"/>
              <a:t>listu</a:t>
            </a:r>
            <a:r>
              <a:rPr lang="en-US" dirty="0"/>
              <a:t> </a:t>
            </a:r>
            <a:r>
              <a:rPr lang="en-US" dirty="0" err="1"/>
              <a:t>prodavaca</a:t>
            </a:r>
            <a:r>
              <a:rPr lang="en-US" dirty="0"/>
              <a:t> </a:t>
            </a:r>
            <a:r>
              <a:rPr lang="en-US" dirty="0" err="1"/>
              <a:t>prema</a:t>
            </a:r>
            <a:r>
              <a:rPr lang="en-US" dirty="0"/>
              <a:t> </a:t>
            </a:r>
            <a:r>
              <a:rPr lang="en-US" dirty="0" err="1"/>
              <a:t>ukupnoj</a:t>
            </a:r>
            <a:r>
              <a:rPr lang="en-US" dirty="0"/>
              <a:t> </a:t>
            </a:r>
            <a:r>
              <a:rPr lang="en-US" dirty="0" err="1"/>
              <a:t>zaradi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proizvodima</a:t>
            </a:r>
            <a:r>
              <a:rPr lang="en-US" dirty="0"/>
              <a:t>. </a:t>
            </a:r>
            <a:r>
              <a:rPr lang="en-US" dirty="0" err="1"/>
              <a:t>Takodje</a:t>
            </a:r>
            <a:r>
              <a:rPr lang="en-US" dirty="0"/>
              <a:t>, za </a:t>
            </a:r>
            <a:r>
              <a:rPr lang="en-US" dirty="0" err="1"/>
              <a:t>svakog</a:t>
            </a:r>
            <a:r>
              <a:rPr lang="en-US" dirty="0"/>
              <a:t> </a:t>
            </a:r>
            <a:r>
              <a:rPr lang="en-US" dirty="0" err="1"/>
              <a:t>prodavca</a:t>
            </a:r>
            <a:r>
              <a:rPr lang="en-US" dirty="0"/>
              <a:t> </a:t>
            </a:r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prosecan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lajkova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proizvodima</a:t>
            </a:r>
            <a:r>
              <a:rPr lang="en-US" dirty="0"/>
              <a:t>,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procenat</a:t>
            </a:r>
            <a:r>
              <a:rPr lang="en-US" dirty="0"/>
              <a:t> </a:t>
            </a:r>
            <a:r>
              <a:rPr lang="en-US" dirty="0" err="1"/>
              <a:t>ovog</a:t>
            </a:r>
            <a:r>
              <a:rPr lang="en-US" dirty="0"/>
              <a:t> </a:t>
            </a:r>
            <a:r>
              <a:rPr lang="en-US" dirty="0" err="1"/>
              <a:t>broja</a:t>
            </a:r>
            <a:r>
              <a:rPr lang="en-US" dirty="0"/>
              <a:t> u </a:t>
            </a:r>
            <a:r>
              <a:rPr lang="en-US" dirty="0" err="1"/>
              <a:t>odnosu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pratioca</a:t>
            </a:r>
            <a:r>
              <a:rPr lang="en-US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AFC279-8B36-AD3B-F3AF-6EF3208149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765" y="2288756"/>
            <a:ext cx="5182049" cy="41608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422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365696" y="839903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Za </a:t>
            </a:r>
            <a:r>
              <a:rPr lang="en-US" dirty="0" err="1"/>
              <a:t>svaki</a:t>
            </a:r>
            <a:r>
              <a:rPr lang="en-US" dirty="0"/>
              <a:t> </a:t>
            </a:r>
            <a:r>
              <a:rPr lang="en-US" dirty="0" err="1"/>
              <a:t>materijal</a:t>
            </a:r>
            <a:r>
              <a:rPr lang="en-US" dirty="0"/>
              <a:t>, </a:t>
            </a:r>
            <a:r>
              <a:rPr lang="en-US" dirty="0" err="1"/>
              <a:t>pronaci</a:t>
            </a:r>
            <a:r>
              <a:rPr lang="en-US" dirty="0"/>
              <a:t> top 3 </a:t>
            </a:r>
            <a:r>
              <a:rPr lang="en-US" dirty="0" err="1"/>
              <a:t>prodavca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iz</a:t>
            </a:r>
            <a:r>
              <a:rPr lang="en-US" dirty="0"/>
              <a:t> </a:t>
            </a:r>
            <a:r>
              <a:rPr lang="en-US" dirty="0" err="1"/>
              <a:t>Australije</a:t>
            </a:r>
            <a:r>
              <a:rPr lang="en-US" dirty="0"/>
              <a:t>, UK </a:t>
            </a:r>
            <a:r>
              <a:rPr lang="en-US" dirty="0" err="1"/>
              <a:t>ili</a:t>
            </a:r>
            <a:r>
              <a:rPr lang="en-US" dirty="0"/>
              <a:t> SAD,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stopom</a:t>
            </a:r>
            <a:r>
              <a:rPr lang="en-US" dirty="0"/>
              <a:t> </a:t>
            </a:r>
            <a:r>
              <a:rPr lang="en-US" dirty="0" err="1"/>
              <a:t>uspesnosti</a:t>
            </a:r>
            <a:r>
              <a:rPr lang="en-US" dirty="0"/>
              <a:t> </a:t>
            </a:r>
            <a:r>
              <a:rPr lang="en-US" dirty="0" err="1"/>
              <a:t>vecom</a:t>
            </a:r>
            <a:r>
              <a:rPr lang="en-US" dirty="0"/>
              <a:t> od 85, koji </a:t>
            </a:r>
            <a:r>
              <a:rPr lang="en-US" dirty="0" err="1"/>
              <a:t>prodaju</a:t>
            </a:r>
            <a:r>
              <a:rPr lang="en-US" dirty="0"/>
              <a:t> </a:t>
            </a:r>
            <a:r>
              <a:rPr lang="en-US" dirty="0" err="1"/>
              <a:t>proizvode</a:t>
            </a:r>
            <a:r>
              <a:rPr lang="en-US" dirty="0"/>
              <a:t> od </a:t>
            </a:r>
            <a:r>
              <a:rPr lang="en-US" dirty="0" err="1"/>
              <a:t>datog</a:t>
            </a:r>
            <a:r>
              <a:rPr lang="en-US" dirty="0"/>
              <a:t> </a:t>
            </a:r>
            <a:r>
              <a:rPr lang="en-US" dirty="0" err="1"/>
              <a:t>materijala</a:t>
            </a:r>
            <a:r>
              <a:rPr lang="en-US" dirty="0"/>
              <a:t> po </a:t>
            </a:r>
            <a:r>
              <a:rPr lang="en-US" dirty="0" err="1"/>
              <a:t>najnizoj</a:t>
            </a:r>
            <a:r>
              <a:rPr lang="en-US" dirty="0"/>
              <a:t> </a:t>
            </a:r>
            <a:r>
              <a:rPr lang="en-US" dirty="0" err="1"/>
              <a:t>prosecnoj</a:t>
            </a:r>
            <a:r>
              <a:rPr lang="en-US" dirty="0"/>
              <a:t> </a:t>
            </a:r>
            <a:r>
              <a:rPr lang="en-US" dirty="0" err="1"/>
              <a:t>ceni</a:t>
            </a:r>
            <a:r>
              <a:rPr lang="en-US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610D2E-3F05-FD54-CFD5-C4863AE131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254" y="2082998"/>
            <a:ext cx="3901778" cy="4572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4E66AF4-C597-F643-0307-BF423E466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8322" y="2082998"/>
            <a:ext cx="3756986" cy="4572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967A15E-2347-1987-373A-67E32885AE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140" y="2082998"/>
            <a:ext cx="3764606" cy="281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73219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9D5AE85A-2D94-948B-434C-62D51E7D9048}"/>
              </a:ext>
            </a:extLst>
          </p:cNvPr>
          <p:cNvSpPr txBox="1"/>
          <p:nvPr/>
        </p:nvSpPr>
        <p:spPr>
          <a:xfrm>
            <a:off x="449672" y="2238412"/>
            <a:ext cx="536329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1. Za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odrediti</a:t>
            </a:r>
            <a:r>
              <a:rPr lang="en-US" dirty="0"/>
              <a:t> 2 </a:t>
            </a:r>
            <a:r>
              <a:rPr lang="en-US" dirty="0" err="1"/>
              <a:t>tipa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naju</a:t>
            </a:r>
            <a:r>
              <a:rPr lang="sr-Latn-RS" dirty="0"/>
              <a:t>čestaliji za to stanje i za svaki tip proizvoda u određenom stanju odrediti 2 boje koje su najučestalije. Tipovi proizvoda su sortirani po broju tog tipa proizvoda za to stanje. 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8444A-759A-F8D2-8496-62F09B099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</p:spPr>
        <p:txBody>
          <a:bodyPr/>
          <a:lstStyle/>
          <a:p>
            <a:r>
              <a:rPr lang="en-US" dirty="0" err="1"/>
              <a:t>Agregacije</a:t>
            </a:r>
            <a:r>
              <a:rPr lang="en-US" dirty="0"/>
              <a:t> – Milo</a:t>
            </a:r>
            <a:r>
              <a:rPr lang="sr-Latn-RS" dirty="0"/>
              <a:t>š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4B500EB-EAA6-B3F0-8B52-8FEA78B91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113884"/>
            <a:ext cx="3927338" cy="451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7818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4364FA-C4B4-18B3-9D51-463C168E230E}"/>
              </a:ext>
            </a:extLst>
          </p:cNvPr>
          <p:cNvSpPr txBox="1"/>
          <p:nvPr/>
        </p:nvSpPr>
        <p:spPr>
          <a:xfrm>
            <a:off x="365696" y="933213"/>
            <a:ext cx="97113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1. Za </a:t>
            </a:r>
            <a:r>
              <a:rPr lang="en-US" dirty="0" err="1"/>
              <a:t>svako</a:t>
            </a:r>
            <a:r>
              <a:rPr lang="en-US" dirty="0"/>
              <a:t> </a:t>
            </a:r>
            <a:r>
              <a:rPr lang="en-US" dirty="0" err="1"/>
              <a:t>stanje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</a:t>
            </a:r>
            <a:r>
              <a:rPr lang="en-US" dirty="0" err="1"/>
              <a:t>odrediti</a:t>
            </a:r>
            <a:r>
              <a:rPr lang="en-US" dirty="0"/>
              <a:t> 2 </a:t>
            </a:r>
            <a:r>
              <a:rPr lang="en-US" dirty="0" err="1"/>
              <a:t>tipa</a:t>
            </a:r>
            <a:r>
              <a:rPr lang="en-US" dirty="0"/>
              <a:t> </a:t>
            </a:r>
            <a:r>
              <a:rPr lang="en-US" dirty="0" err="1"/>
              <a:t>proizvoda</a:t>
            </a:r>
            <a:r>
              <a:rPr lang="en-US" dirty="0"/>
              <a:t> koji </a:t>
            </a:r>
            <a:r>
              <a:rPr lang="en-US" dirty="0" err="1"/>
              <a:t>su</a:t>
            </a:r>
            <a:r>
              <a:rPr lang="en-US" dirty="0"/>
              <a:t> </a:t>
            </a:r>
            <a:r>
              <a:rPr lang="en-US" dirty="0" err="1"/>
              <a:t>naju</a:t>
            </a:r>
            <a:r>
              <a:rPr lang="sr-Latn-RS" dirty="0"/>
              <a:t>čestaliji za to stanje i za svaki tip proizvoda u određenom stanju odrediti 2 boje koje su najučestalije.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079CCE4-7061-9F85-C6C8-025B21488E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6" y="2175713"/>
            <a:ext cx="4511431" cy="4267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EBDB200-3018-02A6-1541-F1EF1B13CE6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3542" y="2175713"/>
            <a:ext cx="4092295" cy="428281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3EE9DBE-2F78-2D60-0380-F320A0015E3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2252" y="2175713"/>
            <a:ext cx="2080440" cy="3040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5657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4364FA-C4B4-18B3-9D51-463C168E230E}"/>
              </a:ext>
            </a:extLst>
          </p:cNvPr>
          <p:cNvSpPr txBox="1"/>
          <p:nvPr/>
        </p:nvSpPr>
        <p:spPr>
          <a:xfrm>
            <a:off x="365696" y="541327"/>
            <a:ext cx="9711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/>
              <a:t>2. Za svaku sezonu pronaci top 5 materijala i za svaki materijal izračunati prosečnu vrednost cene u dolarima u sezoni u kojoj se nalazi, izračunati prosečnu vrednost za ostala 4 materijala u istoj sezoni. Za svaki materijal u sezoni izračunati razliku između njegove prosečne vrednosti cene u dolarima i prosečne vrednosti cene u dolarima za ostala 4 materijala.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935F8C3-0F49-7D45-38A3-164A61E506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2774" y="2213816"/>
            <a:ext cx="3314987" cy="42980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26BDABD-8320-CA80-F0AD-EDBE77EA5D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642" y="2213816"/>
            <a:ext cx="5403048" cy="4259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858322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4364FA-C4B4-18B3-9D51-463C168E230E}"/>
              </a:ext>
            </a:extLst>
          </p:cNvPr>
          <p:cNvSpPr txBox="1"/>
          <p:nvPr/>
        </p:nvSpPr>
        <p:spPr>
          <a:xfrm>
            <a:off x="365696" y="541327"/>
            <a:ext cx="971136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/>
              <a:t>2. Za svaku sezonu pronaci top 5 materijala i za svaki materijal izračunati prosečnu vrednost cene u dolarima u sezoni u kojoj se nalazi, izračunati prosečnu vrednost za ostala 4 materijala u istoj sezoni. Za svaki materijal u sezoni izračunati razliku između njegove prosečne vrednosti cene u dolarima i prosečne vrednosti cene u dolarima za ostala 4 materijala.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857061-88EE-ABAC-CD5D-EFC621B5BB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80" y="2213815"/>
            <a:ext cx="5003170" cy="427519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6CDC02E-2BCD-EA6A-761A-172E024495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07154" y="2213815"/>
            <a:ext cx="4765851" cy="42751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D12C414-83B2-FB49-E424-8C1F5E56885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7509" y="2213815"/>
            <a:ext cx="1348857" cy="861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1184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4364FA-C4B4-18B3-9D51-463C168E230E}"/>
              </a:ext>
            </a:extLst>
          </p:cNvPr>
          <p:cNvSpPr txBox="1"/>
          <p:nvPr/>
        </p:nvSpPr>
        <p:spPr>
          <a:xfrm>
            <a:off x="365696" y="765262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/>
              <a:t>3. Za svaku državu prodavca pronaći brend proizvoda koji je najzastupljeniji. Izračunati ukupna primanja prodavca za najzastupljeniji brend u određenoj državi i izračunati primanja prodavca za sve ostale brendove u istoj državi.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CC33116-7533-0380-74AB-A2AAA0720C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6203" y="2213815"/>
            <a:ext cx="4430237" cy="437270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E631C9-1B9F-F84A-78DC-8CC70E693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7447" y="2213815"/>
            <a:ext cx="4252328" cy="2911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32964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3BC010-8BFA-9996-C44A-5C742E0DA0DF}"/>
              </a:ext>
            </a:extLst>
          </p:cNvPr>
          <p:cNvSpPr txBox="1"/>
          <p:nvPr/>
        </p:nvSpPr>
        <p:spPr>
          <a:xfrm>
            <a:off x="365696" y="718608"/>
            <a:ext cx="971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/>
              <a:t>4. Za svako skladište izračunati ukupan broj prodatih, rezervisanih i slobodnih proizvoda, takođe, izračunati prosečne naknadu kupca za to skladište. Pronaći države koje imaju manju prosečnu naknadu kupca u odnosu na određeno skladište i za svaku državu pronaći 2 tipa proizvoda koja imaju prosečne naknade kupca najpribližnije toj državi.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EB3644-72A5-76FD-4D04-C5DB162DC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190" y="2161687"/>
            <a:ext cx="4717189" cy="429043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79328F-0582-8636-6180-E82C4794C5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1412" y="2180739"/>
            <a:ext cx="5006774" cy="42713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94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10EC1F3-F429-8263-A088-3CB7EAF88E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82" y="2407298"/>
            <a:ext cx="9263519" cy="40663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8E8FFEC-E654-8282-7362-9ECF3AAE7666}"/>
              </a:ext>
            </a:extLst>
          </p:cNvPr>
          <p:cNvSpPr txBox="1"/>
          <p:nvPr/>
        </p:nvSpPr>
        <p:spPr>
          <a:xfrm>
            <a:off x="365696" y="718608"/>
            <a:ext cx="971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/>
              <a:t>4. Za svako skladište izračunati ukupan broj prodatih, rezervisanih i slobodnih proizvoda, takođe, izračunati prosečne naknadu kupca za to skladište. Pronaći države koje imaju manju prosečnu naknadu kupca u odnosu na određeno skladište i za svaku državu pronaći 2 tipa proizvoda koja imaju prosečne naknade kupca najpribližnije toj državi.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8715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D6CB494-1ED4-C21C-8226-8B908B9892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7" y="2202023"/>
            <a:ext cx="5158025" cy="44123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2CE81B5-8E5C-52C3-3510-8042672922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4103" y="2202023"/>
            <a:ext cx="6264183" cy="441236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7A1FA6-2460-D8B0-8D0D-B8641B854ED2}"/>
              </a:ext>
            </a:extLst>
          </p:cNvPr>
          <p:cNvSpPr txBox="1"/>
          <p:nvPr/>
        </p:nvSpPr>
        <p:spPr>
          <a:xfrm>
            <a:off x="365696" y="718608"/>
            <a:ext cx="971136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sr-Latn-RS" dirty="0"/>
              <a:t>4. Za svako skladište izračunati ukupan broj prodatih, rezervisanih i slobodnih proizvoda, takođe, izračunati prosečne naknadu kupca za to skladište. Pronaći države koje imaju manju prosečnu naknadu kupca u odnosu na određeno skladište i za svaku državu pronaći 2 tipa proizvoda koja imaju prosečne naknade kupca najpribližnije toj državi.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79912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E77A1FA6-2460-D8B0-8D0D-B8641B854ED2}"/>
              </a:ext>
            </a:extLst>
          </p:cNvPr>
          <p:cNvSpPr txBox="1"/>
          <p:nvPr/>
        </p:nvSpPr>
        <p:spPr>
          <a:xfrm>
            <a:off x="365696" y="718608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</a:t>
            </a:r>
            <a:r>
              <a:rPr lang="en-US" dirty="0" err="1"/>
              <a:t>Izra</a:t>
            </a:r>
            <a:r>
              <a:rPr lang="sr-Latn-RS" dirty="0"/>
              <a:t>čunati minimum, Q1, medijanu, Q3 i maksimum na osnovu cena proizvoda. Napraviti 4 raspona na osnovu prethodno izračunatih parametara i proizvode smestiti u odgovarajući raspon na osnovu njihovih cena.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20EA1A-C22D-1016-E9DA-CFE5D3FD8B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056" y="2273492"/>
            <a:ext cx="7602645" cy="4176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2430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B55359-04D2-31D3-333A-0568E8D5EE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696" y="2237427"/>
            <a:ext cx="6352345" cy="41380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258B9FC-04F7-2C6E-DD60-E42ED720F2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270" y="2237427"/>
            <a:ext cx="4823878" cy="413801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2B59DFC-466A-7AA5-9745-920FDDE62B77}"/>
              </a:ext>
            </a:extLst>
          </p:cNvPr>
          <p:cNvSpPr txBox="1"/>
          <p:nvPr/>
        </p:nvSpPr>
        <p:spPr>
          <a:xfrm>
            <a:off x="365696" y="718608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</a:t>
            </a:r>
            <a:r>
              <a:rPr lang="en-US" dirty="0" err="1"/>
              <a:t>Izra</a:t>
            </a:r>
            <a:r>
              <a:rPr lang="sr-Latn-RS" dirty="0"/>
              <a:t>čunati minimum, Q1, medijanu, Q3 i maksimum na osnovu cena proizvoda. Napraviti 4 raspona na osnovu prethodno izračunatih parametara i proizvode smestiti u odgovarajući raspon na osnovu njihovih cena.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35824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3667BA-80E2-02FC-6C93-D07E099A97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7980" y="2567181"/>
            <a:ext cx="6706798" cy="314315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B405BB-2068-9632-B1E8-DEBA81DF75AA}"/>
              </a:ext>
            </a:extLst>
          </p:cNvPr>
          <p:cNvSpPr txBox="1"/>
          <p:nvPr/>
        </p:nvSpPr>
        <p:spPr>
          <a:xfrm>
            <a:off x="365696" y="718608"/>
            <a:ext cx="97113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5. </a:t>
            </a:r>
            <a:r>
              <a:rPr lang="en-US" dirty="0" err="1"/>
              <a:t>Izra</a:t>
            </a:r>
            <a:r>
              <a:rPr lang="sr-Latn-RS" dirty="0"/>
              <a:t>čunati minimum, Q1, medijanu, Q3 i maksimum na osnovu cena proizvoda. Napraviti 4 raspona na osnovu prethodno izračunatih parametara i proizvode smestiti u odgovarajući raspon na osnovu njihovih cena.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76406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Skripta</a:t>
            </a:r>
            <a:r>
              <a:rPr lang="en-US" dirty="0"/>
              <a:t> za </a:t>
            </a:r>
            <a:r>
              <a:rPr lang="en-US" dirty="0" err="1"/>
              <a:t>kreiranje</a:t>
            </a:r>
            <a:r>
              <a:rPr lang="en-US" dirty="0"/>
              <a:t> JSON </a:t>
            </a:r>
            <a:r>
              <a:rPr lang="en-US" dirty="0" err="1"/>
              <a:t>fajla</a:t>
            </a:r>
            <a:r>
              <a:rPr lang="en-US" dirty="0"/>
              <a:t> </a:t>
            </a:r>
            <a:r>
              <a:rPr lang="en-US" i="1" dirty="0"/>
              <a:t>Products</a:t>
            </a:r>
            <a:r>
              <a:rPr lang="sr-Latn-RS" i="1" dirty="0"/>
              <a:t> </a:t>
            </a:r>
            <a:r>
              <a:rPr lang="sr-Latn-RS" dirty="0"/>
              <a:t>logičke šeme prilagođene agregacijama – Tijana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77C13A7-5576-FB4B-BC57-5754711303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7020" y="2167202"/>
            <a:ext cx="5848980" cy="447619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C948883-3E65-86B2-C0F4-BD4FFBA8F2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399" y="2167202"/>
            <a:ext cx="5822185" cy="3307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7614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05" y="725236"/>
            <a:ext cx="10115197" cy="1080938"/>
          </a:xfrm>
        </p:spPr>
        <p:txBody>
          <a:bodyPr>
            <a:normAutofit/>
          </a:bodyPr>
          <a:lstStyle/>
          <a:p>
            <a:r>
              <a:rPr lang="sr-Latn-RS" dirty="0"/>
              <a:t>Logička šeme prilagođena agregacijama – Tijana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369B1-3B4E-1BFB-FFCC-0BEE79C42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88" y="2090789"/>
            <a:ext cx="6193630" cy="3096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FCC479-8D4D-A718-FA2A-274419371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89" y="5187604"/>
            <a:ext cx="5794310" cy="13325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52DFF3-CBDF-314C-A03A-C9B2AF152DF4}"/>
              </a:ext>
            </a:extLst>
          </p:cNvPr>
          <p:cNvSpPr/>
          <p:nvPr/>
        </p:nvSpPr>
        <p:spPr>
          <a:xfrm>
            <a:off x="8220269" y="4432040"/>
            <a:ext cx="520618" cy="20787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7816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Skripta</a:t>
            </a:r>
            <a:r>
              <a:rPr lang="en-US" dirty="0"/>
              <a:t> za </a:t>
            </a:r>
            <a:r>
              <a:rPr lang="en-US" dirty="0" err="1"/>
              <a:t>kreiranje</a:t>
            </a:r>
            <a:r>
              <a:rPr lang="en-US" dirty="0"/>
              <a:t> JSON </a:t>
            </a:r>
            <a:r>
              <a:rPr lang="en-US" dirty="0" err="1"/>
              <a:t>fajla</a:t>
            </a:r>
            <a:r>
              <a:rPr lang="en-US" dirty="0"/>
              <a:t> </a:t>
            </a:r>
            <a:r>
              <a:rPr lang="en-US" i="1" dirty="0"/>
              <a:t>Products</a:t>
            </a:r>
            <a:r>
              <a:rPr lang="sr-Latn-RS" i="1" dirty="0"/>
              <a:t> </a:t>
            </a:r>
            <a:r>
              <a:rPr lang="sr-Latn-RS" dirty="0"/>
              <a:t>logičke šeme prilagođene agregacijama – Tamara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048BCB-F6BA-C6B9-0F62-D53BEC743F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3122" y="2170775"/>
            <a:ext cx="5939058" cy="43841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0174996-4762-7817-DFC2-96F8889B1B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8539" y="2170775"/>
            <a:ext cx="5610627" cy="364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11674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824" y="758265"/>
            <a:ext cx="10339132" cy="1080938"/>
          </a:xfrm>
        </p:spPr>
        <p:txBody>
          <a:bodyPr>
            <a:normAutofit/>
          </a:bodyPr>
          <a:lstStyle/>
          <a:p>
            <a:r>
              <a:rPr lang="sr-Latn-RS" dirty="0"/>
              <a:t>Logička šeme prilagođena agregacijama – Tamara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369B1-3B4E-1BFB-FFCC-0BEE79C42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88" y="2090789"/>
            <a:ext cx="6193630" cy="3096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FCC479-8D4D-A718-FA2A-274419371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89" y="5187604"/>
            <a:ext cx="5794310" cy="13325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52DFF3-CBDF-314C-A03A-C9B2AF152DF4}"/>
              </a:ext>
            </a:extLst>
          </p:cNvPr>
          <p:cNvSpPr/>
          <p:nvPr/>
        </p:nvSpPr>
        <p:spPr>
          <a:xfrm>
            <a:off x="8220269" y="4432040"/>
            <a:ext cx="520618" cy="20787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16378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Skripta</a:t>
            </a:r>
            <a:r>
              <a:rPr lang="en-US" dirty="0"/>
              <a:t> za </a:t>
            </a:r>
            <a:r>
              <a:rPr lang="en-US" dirty="0" err="1"/>
              <a:t>kreiranje</a:t>
            </a:r>
            <a:r>
              <a:rPr lang="en-US" dirty="0"/>
              <a:t> JSON </a:t>
            </a:r>
            <a:r>
              <a:rPr lang="en-US" dirty="0" err="1"/>
              <a:t>fajla</a:t>
            </a:r>
            <a:r>
              <a:rPr lang="en-US" dirty="0"/>
              <a:t> </a:t>
            </a:r>
            <a:r>
              <a:rPr lang="en-US" i="1" dirty="0"/>
              <a:t>Products</a:t>
            </a:r>
            <a:r>
              <a:rPr lang="sr-Latn-RS" i="1" dirty="0"/>
              <a:t> </a:t>
            </a:r>
            <a:r>
              <a:rPr lang="sr-Latn-RS" dirty="0"/>
              <a:t>logičke šeme prilagođene agregacijama – Miloš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E87427E-C7C8-1EAC-FBB8-02C2817A73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237" y="2174985"/>
            <a:ext cx="6548449" cy="44089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F34E3B-3C56-687E-5586-15E717987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2803" y="2174985"/>
            <a:ext cx="4967984" cy="440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8671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9105" y="725236"/>
            <a:ext cx="9835279" cy="1080938"/>
          </a:xfrm>
        </p:spPr>
        <p:txBody>
          <a:bodyPr>
            <a:normAutofit/>
          </a:bodyPr>
          <a:lstStyle/>
          <a:p>
            <a:r>
              <a:rPr lang="sr-Latn-RS" dirty="0"/>
              <a:t>Logička šeme prilagođena agregacijama – Miloš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D369B1-3B4E-1BFB-FFCC-0BEE79C420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88" y="2090789"/>
            <a:ext cx="6193630" cy="30968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0FCC479-8D4D-A718-FA2A-274419371F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589" y="5187604"/>
            <a:ext cx="5794310" cy="133252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D52DFF3-CBDF-314C-A03A-C9B2AF152DF4}"/>
              </a:ext>
            </a:extLst>
          </p:cNvPr>
          <p:cNvSpPr/>
          <p:nvPr/>
        </p:nvSpPr>
        <p:spPr>
          <a:xfrm>
            <a:off x="8220269" y="4432040"/>
            <a:ext cx="520618" cy="2078757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60047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Pore</a:t>
            </a:r>
            <a:r>
              <a:rPr lang="sr-Latn-RS" dirty="0"/>
              <a:t>đenje performansi-Tijana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330" y="2432594"/>
            <a:ext cx="4811522" cy="35988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3136" y="2432594"/>
            <a:ext cx="4791964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81094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Pore</a:t>
            </a:r>
            <a:r>
              <a:rPr lang="sr-Latn-RS" dirty="0"/>
              <a:t>đenje performansi-Tamara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321" y="2450012"/>
            <a:ext cx="4722695" cy="3598863"/>
          </a:xfr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2440" y="2450012"/>
            <a:ext cx="4728815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998400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Pore</a:t>
            </a:r>
            <a:r>
              <a:rPr lang="sr-Latn-RS" dirty="0"/>
              <a:t>đenje performansi-Miloš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163" y="2484845"/>
            <a:ext cx="4785514" cy="3598863"/>
          </a:xfr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677" y="2484845"/>
            <a:ext cx="1604469" cy="359886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63647" y="2484845"/>
            <a:ext cx="4838250" cy="3598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920559"/>
      </p:ext>
    </p:extLst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550</TotalTime>
  <Words>1861</Words>
  <Application>Microsoft Office PowerPoint</Application>
  <PresentationFormat>Widescreen</PresentationFormat>
  <Paragraphs>99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9" baseType="lpstr">
      <vt:lpstr>Arial</vt:lpstr>
      <vt:lpstr>Trebuchet MS</vt:lpstr>
      <vt:lpstr>Berlin</vt:lpstr>
      <vt:lpstr>MongoDB projekat: Online shopping Vestiaire Collective</vt:lpstr>
      <vt:lpstr>Tema: Analiza podataka sa Vestiaire Collective sajta</vt:lpstr>
      <vt:lpstr>Semantika postojećih kolona</vt:lpstr>
      <vt:lpstr>Semantika postojećih kolona</vt:lpstr>
      <vt:lpstr>Semantika postojećih kolona</vt:lpstr>
      <vt:lpstr>Prostiranje podataka</vt:lpstr>
      <vt:lpstr>Skripta za kreiranje JSON fajla Products</vt:lpstr>
      <vt:lpstr>PowerPoint Presentation</vt:lpstr>
      <vt:lpstr>Inicijalna logička šema kolekcije Products</vt:lpstr>
      <vt:lpstr>Agregacije – Tijana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Agregacije – Tamara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Agregacije – Miloš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Skripta za kreiranje JSON fajla Products logičke šeme prilagođene agregacijama – Tijana</vt:lpstr>
      <vt:lpstr>Logička šeme prilagođena agregacijama – Tijana</vt:lpstr>
      <vt:lpstr>Skripta za kreiranje JSON fajla Products logičke šeme prilagođene agregacijama – Tamara</vt:lpstr>
      <vt:lpstr>Logička šeme prilagođena agregacijama – Tamara</vt:lpstr>
      <vt:lpstr>Skripta za kreiranje JSON fajla Products logičke šeme prilagođene agregacijama – Miloš</vt:lpstr>
      <vt:lpstr>Logička šeme prilagođena agregacijama – Miloš</vt:lpstr>
      <vt:lpstr>Poređenje performansi-Tijana</vt:lpstr>
      <vt:lpstr>Poređenje performansi-Tamara</vt:lpstr>
      <vt:lpstr>Poređenje performansi-Miloš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Tijana</dc:creator>
  <cp:lastModifiedBy>Tamara Ranisovic</cp:lastModifiedBy>
  <cp:revision>100</cp:revision>
  <dcterms:created xsi:type="dcterms:W3CDTF">2024-05-26T12:51:28Z</dcterms:created>
  <dcterms:modified xsi:type="dcterms:W3CDTF">2024-09-08T13:58:57Z</dcterms:modified>
</cp:coreProperties>
</file>